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94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914400"/>
            <a:ext cx="7315200" cy="1280160"/>
          </a:xfrm>
          <a:prstGeom prst="rect">
            <a:avLst/>
          </a:prstGeom>
          <a:noFill/>
        </p:spPr>
        <p:txBody>
          <a:bodyPr wrap="square">
            <a:spAutoFit/>
          </a:bodyPr>
          <a:lstStyle/>
          <a:p>
            <a:pPr algn="l"/>
            <a:r>
              <a:rPr sz="7200" b="1" i="0">
                <a:solidFill>
                  <a:srgbClr val="FFFFFF"/>
                </a:solidFill>
                <a:latin typeface="Calibri"/>
              </a:rPr>
              <a:t>FitByte</a:t>
            </a:r>
          </a:p>
        </p:txBody>
      </p:sp>
      <p:sp>
        <p:nvSpPr>
          <p:cNvPr id="5" name="TextBox 4"/>
          <p:cNvSpPr txBox="1"/>
          <p:nvPr/>
        </p:nvSpPr>
        <p:spPr>
          <a:xfrm>
            <a:off x="457200" y="2148840"/>
            <a:ext cx="9144000" cy="822960"/>
          </a:xfrm>
          <a:prstGeom prst="rect">
            <a:avLst/>
          </a:prstGeom>
          <a:noFill/>
        </p:spPr>
        <p:txBody>
          <a:bodyPr wrap="square">
            <a:spAutoFit/>
          </a:bodyPr>
          <a:lstStyle/>
          <a:p>
            <a:pPr algn="l"/>
            <a:r>
              <a:rPr sz="4000" b="0" i="0">
                <a:solidFill>
                  <a:srgbClr val="00C8FF"/>
                </a:solidFill>
                <a:latin typeface="Calibri"/>
              </a:rPr>
              <a:t>AI Content Creator</a:t>
            </a:r>
          </a:p>
        </p:txBody>
      </p:sp>
      <p:sp>
        <p:nvSpPr>
          <p:cNvPr id="6" name="TextBox 5"/>
          <p:cNvSpPr txBox="1"/>
          <p:nvPr/>
        </p:nvSpPr>
        <p:spPr>
          <a:xfrm>
            <a:off x="457200" y="3017520"/>
            <a:ext cx="5842000" cy="548640"/>
          </a:xfrm>
          <a:prstGeom prst="rect">
            <a:avLst/>
          </a:prstGeom>
          <a:noFill/>
        </p:spPr>
        <p:txBody>
          <a:bodyPr wrap="square">
            <a:spAutoFit/>
          </a:bodyPr>
          <a:lstStyle/>
          <a:p>
            <a:pPr algn="l"/>
            <a:r>
              <a:rPr sz="1800" b="0" i="0">
                <a:solidFill>
                  <a:srgbClr val="C8D6E5"/>
                </a:solidFill>
                <a:latin typeface="Calibri"/>
              </a:rPr>
              <a:t>Brand-aligned content generation powered by dual knowledge bases</a:t>
            </a:r>
          </a:p>
        </p:txBody>
      </p:sp>
      <p:sp>
        <p:nvSpPr>
          <p:cNvPr id="7" name="Rectangle 6"/>
          <p:cNvSpPr/>
          <p:nvPr/>
        </p:nvSpPr>
        <p:spPr>
          <a:xfrm>
            <a:off x="457200" y="3703320"/>
            <a:ext cx="5486400" cy="36576"/>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3840480"/>
            <a:ext cx="9144000" cy="365760"/>
          </a:xfrm>
          <a:prstGeom prst="rect">
            <a:avLst/>
          </a:prstGeom>
          <a:noFill/>
        </p:spPr>
        <p:txBody>
          <a:bodyPr wrap="square">
            <a:spAutoFit/>
          </a:bodyPr>
          <a:lstStyle/>
          <a:p>
            <a:pPr algn="l"/>
            <a:r>
              <a:rPr sz="1400" b="0" i="0">
                <a:solidFill>
                  <a:srgbClr val="C8D6E5"/>
                </a:solidFill>
                <a:latin typeface="Calibri"/>
              </a:rPr>
              <a:t>Ironhack Data Analytics Bootcamp  •  Module 2 Project</a:t>
            </a:r>
          </a:p>
        </p:txBody>
      </p:sp>
      <p:sp>
        <p:nvSpPr>
          <p:cNvPr id="9" name="TextBox 8"/>
          <p:cNvSpPr txBox="1"/>
          <p:nvPr/>
        </p:nvSpPr>
        <p:spPr>
          <a:xfrm>
            <a:off x="457200" y="4251960"/>
            <a:ext cx="3657600" cy="365760"/>
          </a:xfrm>
          <a:prstGeom prst="rect">
            <a:avLst/>
          </a:prstGeom>
          <a:noFill/>
        </p:spPr>
        <p:txBody>
          <a:bodyPr wrap="square">
            <a:spAutoFit/>
          </a:bodyPr>
          <a:lstStyle/>
          <a:p>
            <a:pPr algn="l"/>
            <a:r>
              <a:rPr sz="1300" b="0" i="0">
                <a:solidFill>
                  <a:srgbClr val="C8D6E5"/>
                </a:solidFill>
                <a:latin typeface="Calibri"/>
              </a:rPr>
              <a:t>May 2026</a:t>
            </a:r>
          </a:p>
        </p:txBody>
      </p:sp>
      <p:sp>
        <p:nvSpPr>
          <p:cNvPr id="10" name="Rectangle 9"/>
          <p:cNvSpPr/>
          <p:nvPr/>
        </p:nvSpPr>
        <p:spPr>
          <a:xfrm>
            <a:off x="960120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4128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88136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1521440" y="3657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60120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24128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88136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521440" y="9144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60120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24128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88136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1521440" y="14630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60120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24128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88136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521440" y="201167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60120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1024128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88136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1521440" y="25603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60120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24128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88136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1521440" y="31089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60120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024128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088136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521440" y="3657599"/>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960120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024128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088136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521440" y="420624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60120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024128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88136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1521440" y="475488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60120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024128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88136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1521440" y="530352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60120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24128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088136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1521440" y="585216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60120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024128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088136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1521440" y="6400800"/>
            <a:ext cx="457200" cy="365760"/>
          </a:xfrm>
          <a:prstGeom prst="rect">
            <a:avLst/>
          </a:prstGeom>
          <a:solidFill>
            <a:srgbClr val="0F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Picture 57" descr="High-quality fictitious fitness tracker product render in a modern minimalist tech-deck style: a sleek black wristband with a rectangular rounded display, subtle cyan (#00B7E5) glow UI elements on the screen (simple icons, no readable text), matte materials, clean edges. Composition: three-quarter angle, centered, slight perspective, with soft diffused studio lighting from upper left creating gentle highlights and smooth shadows. Background environment: dark navy gradient backdrop matching #071A29–#0B1F2F with a faint geometric grid/tile pattern in darker blue (#17364B) to harmonize with the slide’s right-side motif; keep background low-contrast and uncluttered. Rendering style: crisp semi-flat 3D (not photorealistic), restrained corporate look, no heavy shadows, no reflections. ABSOLUTELY no text.">
            <a:extLst>
              <a:ext uri="{FF2B5EF4-FFF2-40B4-BE49-F238E27FC236}">
                <a16:creationId xmlns:a16="http://schemas.microsoft.com/office/drawing/2014/main" id="{FAAB5A63-2853-447A-B06B-941E7AE63E0F}"/>
              </a:ext>
            </a:extLst>
          </p:cNvPr>
          <p:cNvPicPr>
            <a:picLocks noChangeAspect="1"/>
          </p:cNvPicPr>
          <p:nvPr/>
        </p:nvPicPr>
        <p:blipFill>
          <a:blip r:embed="rId2"/>
          <a:stretch>
            <a:fillRect/>
          </a:stretch>
        </p:blipFill>
        <p:spPr>
          <a:xfrm>
            <a:off x="6604000" y="1905000"/>
            <a:ext cx="4572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01  —  PROBLEM &amp; SOLUTION</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9144000" cy="594360"/>
          </a:xfrm>
          <a:prstGeom prst="rect">
            <a:avLst/>
          </a:prstGeom>
          <a:noFill/>
        </p:spPr>
        <p:txBody>
          <a:bodyPr wrap="square">
            <a:spAutoFit/>
          </a:bodyPr>
          <a:lstStyle/>
          <a:p>
            <a:pPr algn="l"/>
            <a:r>
              <a:rPr sz="3000" b="1" i="0">
                <a:solidFill>
                  <a:srgbClr val="FFFFFF"/>
                </a:solidFill>
                <a:latin typeface="Calibri"/>
              </a:rPr>
              <a:t>What Problem Does It Solve?</a:t>
            </a:r>
          </a:p>
        </p:txBody>
      </p:sp>
      <p:sp>
        <p:nvSpPr>
          <p:cNvPr id="6" name="Rectangle 5"/>
          <p:cNvSpPr/>
          <p:nvPr/>
        </p:nvSpPr>
        <p:spPr>
          <a:xfrm>
            <a:off x="365760" y="1508760"/>
            <a:ext cx="5303520" cy="26517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00200"/>
            <a:ext cx="4937760" cy="365760"/>
          </a:xfrm>
          <a:prstGeom prst="rect">
            <a:avLst/>
          </a:prstGeom>
          <a:noFill/>
        </p:spPr>
        <p:txBody>
          <a:bodyPr wrap="square">
            <a:spAutoFit/>
          </a:bodyPr>
          <a:lstStyle/>
          <a:p>
            <a:pPr algn="l"/>
            <a:r>
              <a:rPr sz="1300" b="1" i="0">
                <a:solidFill>
                  <a:srgbClr val="FF6B35"/>
                </a:solidFill>
                <a:latin typeface="Calibri"/>
              </a:rPr>
              <a:t>THE PROBLEM</a:t>
            </a:r>
          </a:p>
        </p:txBody>
      </p:sp>
      <p:sp>
        <p:nvSpPr>
          <p:cNvPr id="8" name="TextBox 7"/>
          <p:cNvSpPr txBox="1"/>
          <p:nvPr/>
        </p:nvSpPr>
        <p:spPr>
          <a:xfrm>
            <a:off x="548640" y="2057400"/>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9" name="TextBox 8"/>
          <p:cNvSpPr txBox="1"/>
          <p:nvPr/>
        </p:nvSpPr>
        <p:spPr>
          <a:xfrm>
            <a:off x="841247" y="2057400"/>
            <a:ext cx="4645152" cy="347472"/>
          </a:xfrm>
          <a:prstGeom prst="rect">
            <a:avLst/>
          </a:prstGeom>
          <a:noFill/>
        </p:spPr>
        <p:txBody>
          <a:bodyPr wrap="square">
            <a:spAutoFit/>
          </a:bodyPr>
          <a:lstStyle/>
          <a:p>
            <a:pPr algn="l"/>
            <a:r>
              <a:rPr sz="1400" b="0" i="0">
                <a:solidFill>
                  <a:srgbClr val="FFFFFF"/>
                </a:solidFill>
                <a:latin typeface="Calibri"/>
              </a:rPr>
              <a:t>Generic AI content looks and sounds the same</a:t>
            </a:r>
          </a:p>
        </p:txBody>
      </p:sp>
      <p:sp>
        <p:nvSpPr>
          <p:cNvPr id="10" name="TextBox 9"/>
          <p:cNvSpPr txBox="1"/>
          <p:nvPr/>
        </p:nvSpPr>
        <p:spPr>
          <a:xfrm>
            <a:off x="548640" y="2404872"/>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11" name="TextBox 10"/>
          <p:cNvSpPr txBox="1"/>
          <p:nvPr/>
        </p:nvSpPr>
        <p:spPr>
          <a:xfrm>
            <a:off x="841247" y="2404872"/>
            <a:ext cx="4645152" cy="347472"/>
          </a:xfrm>
          <a:prstGeom prst="rect">
            <a:avLst/>
          </a:prstGeom>
          <a:noFill/>
        </p:spPr>
        <p:txBody>
          <a:bodyPr wrap="square">
            <a:spAutoFit/>
          </a:bodyPr>
          <a:lstStyle/>
          <a:p>
            <a:pPr algn="l"/>
            <a:r>
              <a:rPr sz="1400" b="0" i="0">
                <a:solidFill>
                  <a:srgbClr val="FFFFFF"/>
                </a:solidFill>
                <a:latin typeface="Calibri"/>
              </a:rPr>
              <a:t>ChatGPT has no brand voice, no product knowledge</a:t>
            </a:r>
          </a:p>
        </p:txBody>
      </p:sp>
      <p:sp>
        <p:nvSpPr>
          <p:cNvPr id="12" name="TextBox 11"/>
          <p:cNvSpPr txBox="1"/>
          <p:nvPr/>
        </p:nvSpPr>
        <p:spPr>
          <a:xfrm>
            <a:off x="548640" y="2752344"/>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13" name="TextBox 12"/>
          <p:cNvSpPr txBox="1"/>
          <p:nvPr/>
        </p:nvSpPr>
        <p:spPr>
          <a:xfrm>
            <a:off x="841247" y="2752344"/>
            <a:ext cx="4645152" cy="347472"/>
          </a:xfrm>
          <a:prstGeom prst="rect">
            <a:avLst/>
          </a:prstGeom>
          <a:noFill/>
        </p:spPr>
        <p:txBody>
          <a:bodyPr wrap="square">
            <a:spAutoFit/>
          </a:bodyPr>
          <a:lstStyle/>
          <a:p>
            <a:pPr algn="l"/>
            <a:r>
              <a:rPr sz="1400" b="0" i="0">
                <a:solidFill>
                  <a:srgbClr val="FFFFFF"/>
                </a:solidFill>
                <a:latin typeface="Calibri"/>
              </a:rPr>
              <a:t>Content teams lack a scalable, consistent system</a:t>
            </a:r>
          </a:p>
        </p:txBody>
      </p:sp>
      <p:sp>
        <p:nvSpPr>
          <p:cNvPr id="14" name="TextBox 13"/>
          <p:cNvSpPr txBox="1"/>
          <p:nvPr/>
        </p:nvSpPr>
        <p:spPr>
          <a:xfrm>
            <a:off x="548640" y="3099816"/>
            <a:ext cx="274320" cy="347472"/>
          </a:xfrm>
          <a:prstGeom prst="rect">
            <a:avLst/>
          </a:prstGeom>
          <a:noFill/>
        </p:spPr>
        <p:txBody>
          <a:bodyPr wrap="square">
            <a:spAutoFit/>
          </a:bodyPr>
          <a:lstStyle/>
          <a:p>
            <a:pPr algn="l"/>
            <a:r>
              <a:rPr sz="1400" b="1" i="0">
                <a:solidFill>
                  <a:srgbClr val="FF6B35"/>
                </a:solidFill>
                <a:latin typeface="Calibri"/>
              </a:rPr>
              <a:t>▸</a:t>
            </a:r>
          </a:p>
        </p:txBody>
      </p:sp>
      <p:sp>
        <p:nvSpPr>
          <p:cNvPr id="15" name="TextBox 14"/>
          <p:cNvSpPr txBox="1"/>
          <p:nvPr/>
        </p:nvSpPr>
        <p:spPr>
          <a:xfrm>
            <a:off x="841247" y="3099816"/>
            <a:ext cx="4645152" cy="347472"/>
          </a:xfrm>
          <a:prstGeom prst="rect">
            <a:avLst/>
          </a:prstGeom>
          <a:noFill/>
        </p:spPr>
        <p:txBody>
          <a:bodyPr wrap="square">
            <a:spAutoFit/>
          </a:bodyPr>
          <a:lstStyle/>
          <a:p>
            <a:pPr algn="l"/>
            <a:r>
              <a:rPr sz="1400" b="0" i="0">
                <a:solidFill>
                  <a:srgbClr val="FFFFFF"/>
                </a:solidFill>
                <a:latin typeface="Calibri"/>
              </a:rPr>
              <a:t>AI outputs ignore market positioning &amp; competitor gaps</a:t>
            </a:r>
          </a:p>
        </p:txBody>
      </p:sp>
      <p:sp>
        <p:nvSpPr>
          <p:cNvPr id="16" name="Rectangle 15"/>
          <p:cNvSpPr/>
          <p:nvPr/>
        </p:nvSpPr>
        <p:spPr>
          <a:xfrm>
            <a:off x="6035040" y="1508760"/>
            <a:ext cx="5760720" cy="26517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600200"/>
            <a:ext cx="5394960" cy="365760"/>
          </a:xfrm>
          <a:prstGeom prst="rect">
            <a:avLst/>
          </a:prstGeom>
          <a:noFill/>
        </p:spPr>
        <p:txBody>
          <a:bodyPr wrap="square">
            <a:spAutoFit/>
          </a:bodyPr>
          <a:lstStyle/>
          <a:p>
            <a:pPr algn="l"/>
            <a:r>
              <a:rPr sz="1300" b="1" i="0">
                <a:solidFill>
                  <a:srgbClr val="00E596"/>
                </a:solidFill>
                <a:latin typeface="Calibri"/>
              </a:rPr>
              <a:t>THE SOLUTION</a:t>
            </a:r>
          </a:p>
        </p:txBody>
      </p:sp>
      <p:sp>
        <p:nvSpPr>
          <p:cNvPr id="18" name="TextBox 17"/>
          <p:cNvSpPr txBox="1"/>
          <p:nvPr/>
        </p:nvSpPr>
        <p:spPr>
          <a:xfrm>
            <a:off x="6217920" y="2057400"/>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19" name="TextBox 18"/>
          <p:cNvSpPr txBox="1"/>
          <p:nvPr/>
        </p:nvSpPr>
        <p:spPr>
          <a:xfrm>
            <a:off x="6510528" y="2057400"/>
            <a:ext cx="5102352" cy="347472"/>
          </a:xfrm>
          <a:prstGeom prst="rect">
            <a:avLst/>
          </a:prstGeom>
          <a:noFill/>
        </p:spPr>
        <p:txBody>
          <a:bodyPr wrap="square">
            <a:spAutoFit/>
          </a:bodyPr>
          <a:lstStyle/>
          <a:p>
            <a:pPr algn="l"/>
            <a:r>
              <a:rPr sz="1400" b="0" i="0">
                <a:solidFill>
                  <a:srgbClr val="FFFFFF"/>
                </a:solidFill>
                <a:latin typeface="Calibri"/>
              </a:rPr>
              <a:t>Dual knowledge base: brand guidelines + market research</a:t>
            </a:r>
          </a:p>
        </p:txBody>
      </p:sp>
      <p:sp>
        <p:nvSpPr>
          <p:cNvPr id="20" name="TextBox 19"/>
          <p:cNvSpPr txBox="1"/>
          <p:nvPr/>
        </p:nvSpPr>
        <p:spPr>
          <a:xfrm>
            <a:off x="6217920" y="2404872"/>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21" name="TextBox 20"/>
          <p:cNvSpPr txBox="1"/>
          <p:nvPr/>
        </p:nvSpPr>
        <p:spPr>
          <a:xfrm>
            <a:off x="6510528" y="2404872"/>
            <a:ext cx="5102352" cy="347472"/>
          </a:xfrm>
          <a:prstGeom prst="rect">
            <a:avLst/>
          </a:prstGeom>
          <a:noFill/>
        </p:spPr>
        <p:txBody>
          <a:bodyPr wrap="square">
            <a:spAutoFit/>
          </a:bodyPr>
          <a:lstStyle/>
          <a:p>
            <a:pPr algn="l"/>
            <a:r>
              <a:rPr sz="1400" b="0" i="0">
                <a:solidFill>
                  <a:srgbClr val="FFFFFF"/>
                </a:solidFill>
                <a:latin typeface="Calibri"/>
              </a:rPr>
              <a:t>5-stage pipeline: Document → Monitor → Brief → Publish → Iterate</a:t>
            </a:r>
          </a:p>
        </p:txBody>
      </p:sp>
      <p:sp>
        <p:nvSpPr>
          <p:cNvPr id="22" name="TextBox 21"/>
          <p:cNvSpPr txBox="1"/>
          <p:nvPr/>
        </p:nvSpPr>
        <p:spPr>
          <a:xfrm>
            <a:off x="6217920" y="2752344"/>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23" name="TextBox 22"/>
          <p:cNvSpPr txBox="1"/>
          <p:nvPr/>
        </p:nvSpPr>
        <p:spPr>
          <a:xfrm>
            <a:off x="6510528" y="2752344"/>
            <a:ext cx="5102352" cy="347472"/>
          </a:xfrm>
          <a:prstGeom prst="rect">
            <a:avLst/>
          </a:prstGeom>
          <a:noFill/>
        </p:spPr>
        <p:txBody>
          <a:bodyPr wrap="square">
            <a:spAutoFit/>
          </a:bodyPr>
          <a:lstStyle/>
          <a:p>
            <a:pPr algn="l"/>
            <a:r>
              <a:rPr sz="1400" b="0" i="0">
                <a:solidFill>
                  <a:srgbClr val="FFFFFF"/>
                </a:solidFill>
                <a:latin typeface="Calibri"/>
              </a:rPr>
              <a:t>Dynamic prompt templates injected with proprietary context</a:t>
            </a:r>
          </a:p>
        </p:txBody>
      </p:sp>
      <p:sp>
        <p:nvSpPr>
          <p:cNvPr id="24" name="TextBox 23"/>
          <p:cNvSpPr txBox="1"/>
          <p:nvPr/>
        </p:nvSpPr>
        <p:spPr>
          <a:xfrm>
            <a:off x="6217920" y="3099816"/>
            <a:ext cx="274320" cy="347472"/>
          </a:xfrm>
          <a:prstGeom prst="rect">
            <a:avLst/>
          </a:prstGeom>
          <a:noFill/>
        </p:spPr>
        <p:txBody>
          <a:bodyPr wrap="square">
            <a:spAutoFit/>
          </a:bodyPr>
          <a:lstStyle/>
          <a:p>
            <a:pPr algn="l"/>
            <a:r>
              <a:rPr sz="1400" b="1" i="0">
                <a:solidFill>
                  <a:srgbClr val="00E596"/>
                </a:solidFill>
                <a:latin typeface="Calibri"/>
              </a:rPr>
              <a:t>▸</a:t>
            </a:r>
          </a:p>
        </p:txBody>
      </p:sp>
      <p:sp>
        <p:nvSpPr>
          <p:cNvPr id="25" name="TextBox 24"/>
          <p:cNvSpPr txBox="1"/>
          <p:nvPr/>
        </p:nvSpPr>
        <p:spPr>
          <a:xfrm>
            <a:off x="6510528" y="3099816"/>
            <a:ext cx="5102352" cy="347472"/>
          </a:xfrm>
          <a:prstGeom prst="rect">
            <a:avLst/>
          </a:prstGeom>
          <a:noFill/>
        </p:spPr>
        <p:txBody>
          <a:bodyPr wrap="square">
            <a:spAutoFit/>
          </a:bodyPr>
          <a:lstStyle/>
          <a:p>
            <a:pPr algn="l"/>
            <a:r>
              <a:rPr sz="1400" b="0" i="0">
                <a:solidFill>
                  <a:srgbClr val="FFFFFF"/>
                </a:solidFill>
                <a:latin typeface="Calibri"/>
              </a:rPr>
              <a:t>Human-in-the-loop for quality control &amp; iteration</a:t>
            </a:r>
          </a:p>
        </p:txBody>
      </p:sp>
      <p:sp>
        <p:nvSpPr>
          <p:cNvPr id="26" name="Rectangle 25"/>
          <p:cNvSpPr/>
          <p:nvPr/>
        </p:nvSpPr>
        <p:spPr>
          <a:xfrm>
            <a:off x="365760" y="4343400"/>
            <a:ext cx="11430000" cy="82296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94360" y="4434840"/>
            <a:ext cx="10972800" cy="594360"/>
          </a:xfrm>
          <a:prstGeom prst="rect">
            <a:avLst/>
          </a:prstGeom>
          <a:noFill/>
        </p:spPr>
        <p:txBody>
          <a:bodyPr wrap="square">
            <a:spAutoFit/>
          </a:bodyPr>
          <a:lstStyle/>
          <a:p>
            <a:pPr algn="l"/>
            <a:r>
              <a:rPr sz="1500" b="0" i="1">
                <a:solidFill>
                  <a:srgbClr val="00C8FF"/>
                </a:solidFill>
                <a:latin typeface="Calibri"/>
              </a:rPr>
              <a:t>"FitByte. Track everything. Overthink nothing." — and now: create brand content that sounds like us.</a:t>
            </a:r>
          </a:p>
        </p:txBody>
      </p:sp>
      <p:sp>
        <p:nvSpPr>
          <p:cNvPr id="28" name="TextBox 27"/>
          <p:cNvSpPr txBox="1"/>
          <p:nvPr/>
        </p:nvSpPr>
        <p:spPr>
          <a:xfrm>
            <a:off x="365760" y="5349240"/>
            <a:ext cx="2743200" cy="320040"/>
          </a:xfrm>
          <a:prstGeom prst="rect">
            <a:avLst/>
          </a:prstGeom>
          <a:noFill/>
        </p:spPr>
        <p:txBody>
          <a:bodyPr wrap="square">
            <a:spAutoFit/>
          </a:bodyPr>
          <a:lstStyle/>
          <a:p>
            <a:pPr algn="l"/>
            <a:r>
              <a:rPr sz="1300" b="1" i="0">
                <a:solidFill>
                  <a:srgbClr val="C8D6E5"/>
                </a:solidFill>
                <a:latin typeface="Calibri"/>
              </a:rPr>
              <a:t>Target Audiences:</a:t>
            </a:r>
          </a:p>
        </p:txBody>
      </p:sp>
      <p:sp>
        <p:nvSpPr>
          <p:cNvPr id="29" name="Rectangle 28"/>
          <p:cNvSpPr/>
          <p:nvPr/>
        </p:nvSpPr>
        <p:spPr>
          <a:xfrm>
            <a:off x="36576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5760720"/>
            <a:ext cx="2423160" cy="347472"/>
          </a:xfrm>
          <a:prstGeom prst="rect">
            <a:avLst/>
          </a:prstGeom>
          <a:noFill/>
        </p:spPr>
        <p:txBody>
          <a:bodyPr wrap="square">
            <a:spAutoFit/>
          </a:bodyPr>
          <a:lstStyle/>
          <a:p>
            <a:pPr algn="ctr"/>
            <a:r>
              <a:rPr sz="1200" b="0" i="0">
                <a:solidFill>
                  <a:srgbClr val="00C8FF"/>
                </a:solidFill>
                <a:latin typeface="Calibri"/>
              </a:rPr>
              <a:t>Performance Athletes</a:t>
            </a:r>
          </a:p>
        </p:txBody>
      </p:sp>
      <p:sp>
        <p:nvSpPr>
          <p:cNvPr id="31" name="Rectangle 30"/>
          <p:cNvSpPr/>
          <p:nvPr/>
        </p:nvSpPr>
        <p:spPr>
          <a:xfrm>
            <a:off x="324612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83280" y="5760720"/>
            <a:ext cx="2423160" cy="347472"/>
          </a:xfrm>
          <a:prstGeom prst="rect">
            <a:avLst/>
          </a:prstGeom>
          <a:noFill/>
        </p:spPr>
        <p:txBody>
          <a:bodyPr wrap="square">
            <a:spAutoFit/>
          </a:bodyPr>
          <a:lstStyle/>
          <a:p>
            <a:pPr algn="ctr"/>
            <a:r>
              <a:rPr sz="1200" b="0" i="0">
                <a:solidFill>
                  <a:srgbClr val="00C8FF"/>
                </a:solidFill>
                <a:latin typeface="Calibri"/>
              </a:rPr>
              <a:t>Fitness Enthusiasts</a:t>
            </a:r>
          </a:p>
        </p:txBody>
      </p:sp>
      <p:sp>
        <p:nvSpPr>
          <p:cNvPr id="33" name="Rectangle 32"/>
          <p:cNvSpPr/>
          <p:nvPr/>
        </p:nvSpPr>
        <p:spPr>
          <a:xfrm>
            <a:off x="612648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63640" y="5760720"/>
            <a:ext cx="2423160" cy="347472"/>
          </a:xfrm>
          <a:prstGeom prst="rect">
            <a:avLst/>
          </a:prstGeom>
          <a:noFill/>
        </p:spPr>
        <p:txBody>
          <a:bodyPr wrap="square">
            <a:spAutoFit/>
          </a:bodyPr>
          <a:lstStyle/>
          <a:p>
            <a:pPr algn="ctr"/>
            <a:r>
              <a:rPr sz="1200" b="0" i="0">
                <a:solidFill>
                  <a:srgbClr val="00C8FF"/>
                </a:solidFill>
                <a:latin typeface="Calibri"/>
              </a:rPr>
              <a:t>Health Professionals</a:t>
            </a:r>
          </a:p>
        </p:txBody>
      </p:sp>
      <p:sp>
        <p:nvSpPr>
          <p:cNvPr id="35" name="Rectangle 34"/>
          <p:cNvSpPr/>
          <p:nvPr/>
        </p:nvSpPr>
        <p:spPr>
          <a:xfrm>
            <a:off x="9006840" y="5715000"/>
            <a:ext cx="2651760" cy="41148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0" y="5760720"/>
            <a:ext cx="2423160" cy="347472"/>
          </a:xfrm>
          <a:prstGeom prst="rect">
            <a:avLst/>
          </a:prstGeom>
          <a:noFill/>
        </p:spPr>
        <p:txBody>
          <a:bodyPr wrap="square">
            <a:spAutoFit/>
          </a:bodyPr>
          <a:lstStyle/>
          <a:p>
            <a:pPr algn="ctr"/>
            <a:r>
              <a:rPr sz="1200" b="0" i="0">
                <a:solidFill>
                  <a:srgbClr val="00C8FF"/>
                </a:solidFill>
                <a:latin typeface="Calibri"/>
              </a:rPr>
              <a:t>Upgraders</a:t>
            </a:r>
          </a:p>
        </p:txBody>
      </p:sp>
      <p:sp>
        <p:nvSpPr>
          <p:cNvPr id="37" name="TextBox 36"/>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02  —  KNOWLEDGE BASE ARCHITECTURE</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9144000" cy="594360"/>
          </a:xfrm>
          <a:prstGeom prst="rect">
            <a:avLst/>
          </a:prstGeom>
          <a:noFill/>
        </p:spPr>
        <p:txBody>
          <a:bodyPr wrap="square">
            <a:spAutoFit/>
          </a:bodyPr>
          <a:lstStyle/>
          <a:p>
            <a:pPr algn="l"/>
            <a:r>
              <a:rPr sz="3000" b="1" i="0">
                <a:solidFill>
                  <a:srgbClr val="FFFFFF"/>
                </a:solidFill>
                <a:latin typeface="Calibri"/>
              </a:rPr>
              <a:t>Two-Layer Knowledge System</a:t>
            </a:r>
          </a:p>
        </p:txBody>
      </p:sp>
      <p:sp>
        <p:nvSpPr>
          <p:cNvPr id="6" name="Rectangle 5"/>
          <p:cNvSpPr/>
          <p:nvPr/>
        </p:nvSpPr>
        <p:spPr>
          <a:xfrm>
            <a:off x="365760" y="1508760"/>
            <a:ext cx="5394960" cy="44805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08760"/>
            <a:ext cx="5394960" cy="411480"/>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54480"/>
            <a:ext cx="5029200" cy="347472"/>
          </a:xfrm>
          <a:prstGeom prst="rect">
            <a:avLst/>
          </a:prstGeom>
          <a:noFill/>
        </p:spPr>
        <p:txBody>
          <a:bodyPr wrap="square">
            <a:spAutoFit/>
          </a:bodyPr>
          <a:lstStyle/>
          <a:p>
            <a:pPr algn="l"/>
            <a:r>
              <a:rPr sz="1300" b="1" i="0">
                <a:solidFill>
                  <a:srgbClr val="FFFFFF"/>
                </a:solidFill>
                <a:latin typeface="Calibri"/>
              </a:rPr>
              <a:t>PRIMARY KNOWLEDGE BASE</a:t>
            </a:r>
          </a:p>
        </p:txBody>
      </p:sp>
      <p:sp>
        <p:nvSpPr>
          <p:cNvPr id="9" name="TextBox 8"/>
          <p:cNvSpPr txBox="1"/>
          <p:nvPr/>
        </p:nvSpPr>
        <p:spPr>
          <a:xfrm>
            <a:off x="548640" y="2057400"/>
            <a:ext cx="5029200" cy="292608"/>
          </a:xfrm>
          <a:prstGeom prst="rect">
            <a:avLst/>
          </a:prstGeom>
          <a:noFill/>
        </p:spPr>
        <p:txBody>
          <a:bodyPr wrap="square">
            <a:spAutoFit/>
          </a:bodyPr>
          <a:lstStyle/>
          <a:p>
            <a:pPr algn="l"/>
            <a:r>
              <a:rPr sz="1100" b="1" i="0">
                <a:solidFill>
                  <a:srgbClr val="00C8FF"/>
                </a:solidFill>
                <a:latin typeface="Calibri"/>
              </a:rPr>
              <a:t>fitbyte_brand_guidelines.md</a:t>
            </a:r>
          </a:p>
        </p:txBody>
      </p:sp>
      <p:sp>
        <p:nvSpPr>
          <p:cNvPr id="10" name="TextBox 9"/>
          <p:cNvSpPr txBox="1"/>
          <p:nvPr/>
        </p:nvSpPr>
        <p:spPr>
          <a:xfrm>
            <a:off x="640080" y="2350008"/>
            <a:ext cx="4846320" cy="274320"/>
          </a:xfrm>
          <a:prstGeom prst="rect">
            <a:avLst/>
          </a:prstGeom>
          <a:noFill/>
        </p:spPr>
        <p:txBody>
          <a:bodyPr wrap="square">
            <a:spAutoFit/>
          </a:bodyPr>
          <a:lstStyle/>
          <a:p>
            <a:pPr algn="l"/>
            <a:r>
              <a:rPr sz="1100" b="0" i="0">
                <a:solidFill>
                  <a:srgbClr val="C8D6E5"/>
                </a:solidFill>
                <a:latin typeface="Calibri"/>
              </a:rPr>
              <a:t>• Brand voice rules (active voice, no serial comma)</a:t>
            </a:r>
          </a:p>
        </p:txBody>
      </p:sp>
      <p:sp>
        <p:nvSpPr>
          <p:cNvPr id="11" name="TextBox 10"/>
          <p:cNvSpPr txBox="1"/>
          <p:nvPr/>
        </p:nvSpPr>
        <p:spPr>
          <a:xfrm>
            <a:off x="640080" y="2606039"/>
            <a:ext cx="4846320" cy="274320"/>
          </a:xfrm>
          <a:prstGeom prst="rect">
            <a:avLst/>
          </a:prstGeom>
          <a:noFill/>
        </p:spPr>
        <p:txBody>
          <a:bodyPr wrap="square">
            <a:spAutoFit/>
          </a:bodyPr>
          <a:lstStyle/>
          <a:p>
            <a:pPr algn="l"/>
            <a:r>
              <a:rPr sz="1100" b="0" i="0">
                <a:solidFill>
                  <a:srgbClr val="C8D6E5"/>
                </a:solidFill>
                <a:latin typeface="Calibri"/>
              </a:rPr>
              <a:t>• 4 audience personas with tone guides</a:t>
            </a:r>
          </a:p>
        </p:txBody>
      </p:sp>
      <p:sp>
        <p:nvSpPr>
          <p:cNvPr id="12" name="TextBox 11"/>
          <p:cNvSpPr txBox="1"/>
          <p:nvPr/>
        </p:nvSpPr>
        <p:spPr>
          <a:xfrm>
            <a:off x="640080" y="2862072"/>
            <a:ext cx="4846320" cy="274320"/>
          </a:xfrm>
          <a:prstGeom prst="rect">
            <a:avLst/>
          </a:prstGeom>
          <a:noFill/>
        </p:spPr>
        <p:txBody>
          <a:bodyPr wrap="square">
            <a:spAutoFit/>
          </a:bodyPr>
          <a:lstStyle/>
          <a:p>
            <a:pPr algn="l"/>
            <a:r>
              <a:rPr sz="1100" b="0" i="0">
                <a:solidFill>
                  <a:srgbClr val="C8D6E5"/>
                </a:solidFill>
                <a:latin typeface="Calibri"/>
              </a:rPr>
              <a:t>• Channel-specific writing standards</a:t>
            </a:r>
          </a:p>
        </p:txBody>
      </p:sp>
      <p:sp>
        <p:nvSpPr>
          <p:cNvPr id="13" name="TextBox 12"/>
          <p:cNvSpPr txBox="1"/>
          <p:nvPr/>
        </p:nvSpPr>
        <p:spPr>
          <a:xfrm>
            <a:off x="548640" y="3209544"/>
            <a:ext cx="5029200" cy="292608"/>
          </a:xfrm>
          <a:prstGeom prst="rect">
            <a:avLst/>
          </a:prstGeom>
          <a:noFill/>
        </p:spPr>
        <p:txBody>
          <a:bodyPr wrap="square">
            <a:spAutoFit/>
          </a:bodyPr>
          <a:lstStyle/>
          <a:p>
            <a:pPr algn="l"/>
            <a:r>
              <a:rPr sz="1100" b="1" i="0">
                <a:solidFill>
                  <a:srgbClr val="00C8FF"/>
                </a:solidFill>
                <a:latin typeface="Calibri"/>
              </a:rPr>
              <a:t>fitbyte_product_specs.md</a:t>
            </a:r>
          </a:p>
        </p:txBody>
      </p:sp>
      <p:sp>
        <p:nvSpPr>
          <p:cNvPr id="14" name="TextBox 13"/>
          <p:cNvSpPr txBox="1"/>
          <p:nvPr/>
        </p:nvSpPr>
        <p:spPr>
          <a:xfrm>
            <a:off x="640080" y="3502152"/>
            <a:ext cx="4846320" cy="274320"/>
          </a:xfrm>
          <a:prstGeom prst="rect">
            <a:avLst/>
          </a:prstGeom>
          <a:noFill/>
        </p:spPr>
        <p:txBody>
          <a:bodyPr wrap="square">
            <a:spAutoFit/>
          </a:bodyPr>
          <a:lstStyle/>
          <a:p>
            <a:pPr algn="l"/>
            <a:r>
              <a:rPr sz="1100" b="0" i="0">
                <a:solidFill>
                  <a:srgbClr val="C8D6E5"/>
                </a:solidFill>
                <a:latin typeface="Calibri"/>
              </a:rPr>
              <a:t>• 14-day battery, dual-frequency GPS</a:t>
            </a:r>
          </a:p>
        </p:txBody>
      </p:sp>
      <p:sp>
        <p:nvSpPr>
          <p:cNvPr id="15" name="TextBox 14"/>
          <p:cNvSpPr txBox="1"/>
          <p:nvPr/>
        </p:nvSpPr>
        <p:spPr>
          <a:xfrm>
            <a:off x="640080" y="3758184"/>
            <a:ext cx="4846320" cy="274320"/>
          </a:xfrm>
          <a:prstGeom prst="rect">
            <a:avLst/>
          </a:prstGeom>
          <a:noFill/>
        </p:spPr>
        <p:txBody>
          <a:bodyPr wrap="square">
            <a:spAutoFit/>
          </a:bodyPr>
          <a:lstStyle/>
          <a:p>
            <a:pPr algn="l"/>
            <a:r>
              <a:rPr sz="1100" b="0" i="0">
                <a:solidFill>
                  <a:srgbClr val="C8D6E5"/>
                </a:solidFill>
                <a:latin typeface="Calibri"/>
              </a:rPr>
              <a:t>• 6-stage sleep tracking, Recovery Score</a:t>
            </a:r>
          </a:p>
        </p:txBody>
      </p:sp>
      <p:sp>
        <p:nvSpPr>
          <p:cNvPr id="16" name="TextBox 15"/>
          <p:cNvSpPr txBox="1"/>
          <p:nvPr/>
        </p:nvSpPr>
        <p:spPr>
          <a:xfrm>
            <a:off x="640080" y="4014216"/>
            <a:ext cx="4846320" cy="274320"/>
          </a:xfrm>
          <a:prstGeom prst="rect">
            <a:avLst/>
          </a:prstGeom>
          <a:noFill/>
        </p:spPr>
        <p:txBody>
          <a:bodyPr wrap="square">
            <a:spAutoFit/>
          </a:bodyPr>
          <a:lstStyle/>
          <a:p>
            <a:pPr algn="l"/>
            <a:r>
              <a:rPr sz="1100" b="0" i="0">
                <a:solidFill>
                  <a:srgbClr val="C8D6E5"/>
                </a:solidFill>
                <a:latin typeface="Calibri"/>
              </a:rPr>
              <a:t>• SpO2, VO2 max, 50m water-resistance</a:t>
            </a:r>
          </a:p>
        </p:txBody>
      </p:sp>
      <p:sp>
        <p:nvSpPr>
          <p:cNvPr id="17" name="TextBox 16"/>
          <p:cNvSpPr txBox="1"/>
          <p:nvPr/>
        </p:nvSpPr>
        <p:spPr>
          <a:xfrm>
            <a:off x="548640" y="4361688"/>
            <a:ext cx="5029200" cy="292608"/>
          </a:xfrm>
          <a:prstGeom prst="rect">
            <a:avLst/>
          </a:prstGeom>
          <a:noFill/>
        </p:spPr>
        <p:txBody>
          <a:bodyPr wrap="square">
            <a:spAutoFit/>
          </a:bodyPr>
          <a:lstStyle/>
          <a:p>
            <a:pPr algn="l"/>
            <a:r>
              <a:rPr sz="1100" b="1" i="0">
                <a:solidFill>
                  <a:srgbClr val="00C8FF"/>
                </a:solidFill>
                <a:latin typeface="Calibri"/>
              </a:rPr>
              <a:t>past_content/fitbyte_content_examples.md</a:t>
            </a:r>
          </a:p>
        </p:txBody>
      </p:sp>
      <p:sp>
        <p:nvSpPr>
          <p:cNvPr id="18" name="TextBox 17"/>
          <p:cNvSpPr txBox="1"/>
          <p:nvPr/>
        </p:nvSpPr>
        <p:spPr>
          <a:xfrm>
            <a:off x="640080" y="4654296"/>
            <a:ext cx="4846320" cy="274320"/>
          </a:xfrm>
          <a:prstGeom prst="rect">
            <a:avLst/>
          </a:prstGeom>
          <a:noFill/>
        </p:spPr>
        <p:txBody>
          <a:bodyPr wrap="square">
            <a:spAutoFit/>
          </a:bodyPr>
          <a:lstStyle/>
          <a:p>
            <a:pPr algn="l"/>
            <a:r>
              <a:rPr sz="1100" b="0" i="0">
                <a:solidFill>
                  <a:srgbClr val="C8D6E5"/>
                </a:solidFill>
                <a:latin typeface="Calibri"/>
              </a:rPr>
              <a:t>• 10 real FitByte blog posts</a:t>
            </a:r>
          </a:p>
        </p:txBody>
      </p:sp>
      <p:sp>
        <p:nvSpPr>
          <p:cNvPr id="19" name="TextBox 18"/>
          <p:cNvSpPr txBox="1"/>
          <p:nvPr/>
        </p:nvSpPr>
        <p:spPr>
          <a:xfrm>
            <a:off x="640080" y="4910328"/>
            <a:ext cx="4846320" cy="274320"/>
          </a:xfrm>
          <a:prstGeom prst="rect">
            <a:avLst/>
          </a:prstGeom>
          <a:noFill/>
        </p:spPr>
        <p:txBody>
          <a:bodyPr wrap="square">
            <a:spAutoFit/>
          </a:bodyPr>
          <a:lstStyle/>
          <a:p>
            <a:pPr algn="l"/>
            <a:r>
              <a:rPr sz="1100" b="0" i="0">
                <a:solidFill>
                  <a:srgbClr val="C8D6E5"/>
                </a:solidFill>
                <a:latin typeface="Calibri"/>
              </a:rPr>
              <a:t>• Few-shot style reference</a:t>
            </a:r>
          </a:p>
        </p:txBody>
      </p:sp>
      <p:sp>
        <p:nvSpPr>
          <p:cNvPr id="20" name="TextBox 19"/>
          <p:cNvSpPr txBox="1"/>
          <p:nvPr/>
        </p:nvSpPr>
        <p:spPr>
          <a:xfrm>
            <a:off x="640080" y="5166360"/>
            <a:ext cx="4846320" cy="274320"/>
          </a:xfrm>
          <a:prstGeom prst="rect">
            <a:avLst/>
          </a:prstGeom>
          <a:noFill/>
        </p:spPr>
        <p:txBody>
          <a:bodyPr wrap="square">
            <a:spAutoFit/>
          </a:bodyPr>
          <a:lstStyle/>
          <a:p>
            <a:pPr algn="l"/>
            <a:r>
              <a:rPr sz="1100" b="0" i="0">
                <a:solidFill>
                  <a:srgbClr val="C8D6E5"/>
                </a:solidFill>
                <a:latin typeface="Calibri"/>
              </a:rPr>
              <a:t>• Proven brand-aligned tone</a:t>
            </a:r>
          </a:p>
        </p:txBody>
      </p:sp>
      <p:sp>
        <p:nvSpPr>
          <p:cNvPr id="21" name="Rectangle 20"/>
          <p:cNvSpPr/>
          <p:nvPr/>
        </p:nvSpPr>
        <p:spPr>
          <a:xfrm>
            <a:off x="6217920" y="1508760"/>
            <a:ext cx="5577840" cy="44805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17920" y="1508760"/>
            <a:ext cx="5577840" cy="411480"/>
          </a:xfrm>
          <a:prstGeom prst="rect">
            <a:avLst/>
          </a:prstGeom>
          <a:solidFill>
            <a:srgbClr val="006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1554480"/>
            <a:ext cx="5212080" cy="347472"/>
          </a:xfrm>
          <a:prstGeom prst="rect">
            <a:avLst/>
          </a:prstGeom>
          <a:noFill/>
        </p:spPr>
        <p:txBody>
          <a:bodyPr wrap="square">
            <a:spAutoFit/>
          </a:bodyPr>
          <a:lstStyle/>
          <a:p>
            <a:pPr algn="l"/>
            <a:r>
              <a:rPr sz="1300" b="1" i="0">
                <a:solidFill>
                  <a:srgbClr val="FFFFFF"/>
                </a:solidFill>
                <a:latin typeface="Calibri"/>
              </a:rPr>
              <a:t>SECONDARY RESEARCH LAYER</a:t>
            </a:r>
          </a:p>
        </p:txBody>
      </p:sp>
      <p:sp>
        <p:nvSpPr>
          <p:cNvPr id="24" name="TextBox 23"/>
          <p:cNvSpPr txBox="1"/>
          <p:nvPr/>
        </p:nvSpPr>
        <p:spPr>
          <a:xfrm>
            <a:off x="6400800" y="2057400"/>
            <a:ext cx="5212080" cy="292608"/>
          </a:xfrm>
          <a:prstGeom prst="rect">
            <a:avLst/>
          </a:prstGeom>
          <a:noFill/>
        </p:spPr>
        <p:txBody>
          <a:bodyPr wrap="square">
            <a:spAutoFit/>
          </a:bodyPr>
          <a:lstStyle/>
          <a:p>
            <a:pPr algn="l"/>
            <a:r>
              <a:rPr sz="1100" b="1" i="0">
                <a:solidFill>
                  <a:srgbClr val="00E596"/>
                </a:solidFill>
                <a:latin typeface="Calibri"/>
              </a:rPr>
              <a:t>market_trends.md</a:t>
            </a:r>
          </a:p>
        </p:txBody>
      </p:sp>
      <p:sp>
        <p:nvSpPr>
          <p:cNvPr id="25" name="TextBox 24"/>
          <p:cNvSpPr txBox="1"/>
          <p:nvPr/>
        </p:nvSpPr>
        <p:spPr>
          <a:xfrm>
            <a:off x="6492240" y="2350008"/>
            <a:ext cx="5029200" cy="274320"/>
          </a:xfrm>
          <a:prstGeom prst="rect">
            <a:avLst/>
          </a:prstGeom>
          <a:noFill/>
        </p:spPr>
        <p:txBody>
          <a:bodyPr wrap="square">
            <a:spAutoFit/>
          </a:bodyPr>
          <a:lstStyle/>
          <a:p>
            <a:pPr algn="l"/>
            <a:r>
              <a:rPr sz="1100" b="0" i="0">
                <a:solidFill>
                  <a:srgbClr val="C8D6E5"/>
                </a:solidFill>
                <a:latin typeface="Calibri"/>
              </a:rPr>
              <a:t>• 2024-2025 consumer fitness trends</a:t>
            </a:r>
          </a:p>
        </p:txBody>
      </p:sp>
      <p:sp>
        <p:nvSpPr>
          <p:cNvPr id="26" name="TextBox 25"/>
          <p:cNvSpPr txBox="1"/>
          <p:nvPr/>
        </p:nvSpPr>
        <p:spPr>
          <a:xfrm>
            <a:off x="6492240" y="2606039"/>
            <a:ext cx="5029200" cy="274320"/>
          </a:xfrm>
          <a:prstGeom prst="rect">
            <a:avLst/>
          </a:prstGeom>
          <a:noFill/>
        </p:spPr>
        <p:txBody>
          <a:bodyPr wrap="square">
            <a:spAutoFit/>
          </a:bodyPr>
          <a:lstStyle/>
          <a:p>
            <a:pPr algn="l"/>
            <a:r>
              <a:rPr sz="1100" b="0" i="0">
                <a:solidFill>
                  <a:srgbClr val="C8D6E5"/>
                </a:solidFill>
                <a:latin typeface="Calibri"/>
              </a:rPr>
              <a:t>• 68% of serious athletes track recovery metrics</a:t>
            </a:r>
          </a:p>
        </p:txBody>
      </p:sp>
      <p:sp>
        <p:nvSpPr>
          <p:cNvPr id="27" name="TextBox 26"/>
          <p:cNvSpPr txBox="1"/>
          <p:nvPr/>
        </p:nvSpPr>
        <p:spPr>
          <a:xfrm>
            <a:off x="6492240" y="2862072"/>
            <a:ext cx="5029200" cy="274320"/>
          </a:xfrm>
          <a:prstGeom prst="rect">
            <a:avLst/>
          </a:prstGeom>
          <a:noFill/>
        </p:spPr>
        <p:txBody>
          <a:bodyPr wrap="square">
            <a:spAutoFit/>
          </a:bodyPr>
          <a:lstStyle/>
          <a:p>
            <a:pPr algn="l"/>
            <a:r>
              <a:rPr sz="1100" b="0" i="0">
                <a:solidFill>
                  <a:srgbClr val="C8D6E5"/>
                </a:solidFill>
                <a:latin typeface="Calibri"/>
              </a:rPr>
              <a:t>• Wearables market growth trajectory</a:t>
            </a:r>
          </a:p>
        </p:txBody>
      </p:sp>
      <p:sp>
        <p:nvSpPr>
          <p:cNvPr id="28" name="TextBox 27"/>
          <p:cNvSpPr txBox="1"/>
          <p:nvPr/>
        </p:nvSpPr>
        <p:spPr>
          <a:xfrm>
            <a:off x="6400800" y="3209544"/>
            <a:ext cx="5212080" cy="292608"/>
          </a:xfrm>
          <a:prstGeom prst="rect">
            <a:avLst/>
          </a:prstGeom>
          <a:noFill/>
        </p:spPr>
        <p:txBody>
          <a:bodyPr wrap="square">
            <a:spAutoFit/>
          </a:bodyPr>
          <a:lstStyle/>
          <a:p>
            <a:pPr algn="l"/>
            <a:r>
              <a:rPr sz="1100" b="1" i="0">
                <a:solidFill>
                  <a:srgbClr val="00E596"/>
                </a:solidFill>
                <a:latin typeface="Calibri"/>
              </a:rPr>
              <a:t>competitor_analysis.md</a:t>
            </a:r>
          </a:p>
        </p:txBody>
      </p:sp>
      <p:sp>
        <p:nvSpPr>
          <p:cNvPr id="29" name="TextBox 28"/>
          <p:cNvSpPr txBox="1"/>
          <p:nvPr/>
        </p:nvSpPr>
        <p:spPr>
          <a:xfrm>
            <a:off x="6492240" y="3502152"/>
            <a:ext cx="5029200" cy="274320"/>
          </a:xfrm>
          <a:prstGeom prst="rect">
            <a:avLst/>
          </a:prstGeom>
          <a:noFill/>
        </p:spPr>
        <p:txBody>
          <a:bodyPr wrap="square">
            <a:spAutoFit/>
          </a:bodyPr>
          <a:lstStyle/>
          <a:p>
            <a:pPr algn="l"/>
            <a:r>
              <a:rPr sz="1100" b="0" i="0">
                <a:solidFill>
                  <a:srgbClr val="C8D6E5"/>
                </a:solidFill>
                <a:latin typeface="Calibri"/>
              </a:rPr>
              <a:t>• Garmin, Apple Watch, Fitbit, Whoop positioning</a:t>
            </a:r>
          </a:p>
        </p:txBody>
      </p:sp>
      <p:sp>
        <p:nvSpPr>
          <p:cNvPr id="30" name="TextBox 29"/>
          <p:cNvSpPr txBox="1"/>
          <p:nvPr/>
        </p:nvSpPr>
        <p:spPr>
          <a:xfrm>
            <a:off x="6492240" y="3758184"/>
            <a:ext cx="5029200" cy="274320"/>
          </a:xfrm>
          <a:prstGeom prst="rect">
            <a:avLst/>
          </a:prstGeom>
          <a:noFill/>
        </p:spPr>
        <p:txBody>
          <a:bodyPr wrap="square">
            <a:spAutoFit/>
          </a:bodyPr>
          <a:lstStyle/>
          <a:p>
            <a:pPr algn="l"/>
            <a:r>
              <a:rPr sz="1100" b="0" i="0">
                <a:solidFill>
                  <a:srgbClr val="C8D6E5"/>
                </a:solidFill>
                <a:latin typeface="Calibri"/>
              </a:rPr>
              <a:t>• FitByte differentiators identified</a:t>
            </a:r>
          </a:p>
        </p:txBody>
      </p:sp>
      <p:sp>
        <p:nvSpPr>
          <p:cNvPr id="31" name="TextBox 30"/>
          <p:cNvSpPr txBox="1"/>
          <p:nvPr/>
        </p:nvSpPr>
        <p:spPr>
          <a:xfrm>
            <a:off x="6492240" y="4014216"/>
            <a:ext cx="5029200" cy="274320"/>
          </a:xfrm>
          <a:prstGeom prst="rect">
            <a:avLst/>
          </a:prstGeom>
          <a:noFill/>
        </p:spPr>
        <p:txBody>
          <a:bodyPr wrap="square">
            <a:spAutoFit/>
          </a:bodyPr>
          <a:lstStyle/>
          <a:p>
            <a:pPr algn="l"/>
            <a:r>
              <a:rPr sz="1100" b="0" i="0">
                <a:solidFill>
                  <a:srgbClr val="C8D6E5"/>
                </a:solidFill>
                <a:latin typeface="Calibri"/>
              </a:rPr>
              <a:t>• Pricing &amp; feature gap analysis</a:t>
            </a:r>
          </a:p>
        </p:txBody>
      </p:sp>
      <p:sp>
        <p:nvSpPr>
          <p:cNvPr id="32" name="Rectangle 31"/>
          <p:cNvSpPr/>
          <p:nvPr/>
        </p:nvSpPr>
        <p:spPr>
          <a:xfrm>
            <a:off x="365760" y="6126480"/>
            <a:ext cx="11430000" cy="502920"/>
          </a:xfrm>
          <a:prstGeom prst="rect">
            <a:avLst/>
          </a:prstGeom>
          <a:solidFill>
            <a:srgbClr val="0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6172200"/>
            <a:ext cx="10972800" cy="384048"/>
          </a:xfrm>
          <a:prstGeom prst="rect">
            <a:avLst/>
          </a:prstGeom>
          <a:noFill/>
        </p:spPr>
        <p:txBody>
          <a:bodyPr wrap="square">
            <a:spAutoFit/>
          </a:bodyPr>
          <a:lstStyle/>
          <a:p>
            <a:pPr algn="ctr"/>
            <a:r>
              <a:rPr sz="1300" b="1" i="0">
                <a:solidFill>
                  <a:srgbClr val="00C8FF"/>
                </a:solidFill>
                <a:latin typeface="Calibri"/>
              </a:rPr>
              <a:t>Primary = What FitByte IS   |   Secondary = What the MARKET looks like</a:t>
            </a:r>
          </a:p>
        </p:txBody>
      </p:sp>
      <p:sp>
        <p:nvSpPr>
          <p:cNvPr id="34" name="TextBox 33"/>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03  —  CONTENT PIPELINE</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5-Stage Content Creation Pipeline</a:t>
            </a:r>
          </a:p>
        </p:txBody>
      </p:sp>
      <p:sp>
        <p:nvSpPr>
          <p:cNvPr id="6" name="Rectangle 5"/>
          <p:cNvSpPr/>
          <p:nvPr/>
        </p:nvSpPr>
        <p:spPr>
          <a:xfrm>
            <a:off x="320040" y="1508760"/>
            <a:ext cx="2103120" cy="384048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508760"/>
            <a:ext cx="2103120" cy="4572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536192"/>
            <a:ext cx="457200" cy="411480"/>
          </a:xfrm>
          <a:prstGeom prst="rect">
            <a:avLst/>
          </a:prstGeom>
          <a:noFill/>
        </p:spPr>
        <p:txBody>
          <a:bodyPr wrap="square">
            <a:spAutoFit/>
          </a:bodyPr>
          <a:lstStyle/>
          <a:p>
            <a:pPr algn="ctr"/>
            <a:r>
              <a:rPr sz="1800" b="1" i="0">
                <a:solidFill>
                  <a:srgbClr val="0D1B2A"/>
                </a:solidFill>
                <a:latin typeface="Calibri"/>
              </a:rPr>
              <a:t>1</a:t>
            </a:r>
          </a:p>
        </p:txBody>
      </p:sp>
      <p:sp>
        <p:nvSpPr>
          <p:cNvPr id="9" name="TextBox 8"/>
          <p:cNvSpPr txBox="1"/>
          <p:nvPr/>
        </p:nvSpPr>
        <p:spPr>
          <a:xfrm>
            <a:off x="731520" y="1572768"/>
            <a:ext cx="1645919" cy="365760"/>
          </a:xfrm>
          <a:prstGeom prst="rect">
            <a:avLst/>
          </a:prstGeom>
          <a:noFill/>
        </p:spPr>
        <p:txBody>
          <a:bodyPr wrap="square">
            <a:spAutoFit/>
          </a:bodyPr>
          <a:lstStyle/>
          <a:p>
            <a:pPr algn="l"/>
            <a:r>
              <a:rPr sz="1300" b="1" i="0">
                <a:solidFill>
                  <a:srgbClr val="0D1B2A"/>
                </a:solidFill>
                <a:latin typeface="Calibri"/>
              </a:rPr>
              <a:t>DOCUMENT</a:t>
            </a:r>
          </a:p>
        </p:txBody>
      </p:sp>
      <p:sp>
        <p:nvSpPr>
          <p:cNvPr id="10" name="TextBox 9"/>
          <p:cNvSpPr txBox="1"/>
          <p:nvPr/>
        </p:nvSpPr>
        <p:spPr>
          <a:xfrm>
            <a:off x="429768" y="2103120"/>
            <a:ext cx="1883663" cy="2926080"/>
          </a:xfrm>
          <a:prstGeom prst="rect">
            <a:avLst/>
          </a:prstGeom>
          <a:noFill/>
        </p:spPr>
        <p:txBody>
          <a:bodyPr wrap="square">
            <a:spAutoFit/>
          </a:bodyPr>
          <a:lstStyle/>
          <a:p>
            <a:pPr algn="l"/>
            <a:r>
              <a:rPr sz="1200" b="0" i="0">
                <a:solidFill>
                  <a:srgbClr val="FFFFFF"/>
                </a:solidFill>
                <a:latin typeface="Calibri"/>
              </a:rPr>
              <a:t>Load &amp; structure
brand + market
context from
both KBs</a:t>
            </a:r>
          </a:p>
        </p:txBody>
      </p:sp>
      <p:sp>
        <p:nvSpPr>
          <p:cNvPr id="11" name="TextBox 10"/>
          <p:cNvSpPr txBox="1"/>
          <p:nvPr/>
        </p:nvSpPr>
        <p:spPr>
          <a:xfrm>
            <a:off x="2459736"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12" name="Rectangle 11"/>
          <p:cNvSpPr/>
          <p:nvPr/>
        </p:nvSpPr>
        <p:spPr>
          <a:xfrm>
            <a:off x="2679192" y="1508760"/>
            <a:ext cx="2103120" cy="3840480"/>
          </a:xfrm>
          <a:prstGeom prst="rect">
            <a:avLst/>
          </a:prstGeom>
          <a:solidFill>
            <a:srgbClr val="003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79192" y="1508760"/>
            <a:ext cx="2103120" cy="45720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679192" y="1536192"/>
            <a:ext cx="457200" cy="411480"/>
          </a:xfrm>
          <a:prstGeom prst="rect">
            <a:avLst/>
          </a:prstGeom>
          <a:noFill/>
        </p:spPr>
        <p:txBody>
          <a:bodyPr wrap="square">
            <a:spAutoFit/>
          </a:bodyPr>
          <a:lstStyle/>
          <a:p>
            <a:pPr algn="ctr"/>
            <a:r>
              <a:rPr sz="1800" b="1" i="0">
                <a:solidFill>
                  <a:srgbClr val="0D1B2A"/>
                </a:solidFill>
                <a:latin typeface="Calibri"/>
              </a:rPr>
              <a:t>2</a:t>
            </a:r>
          </a:p>
        </p:txBody>
      </p:sp>
      <p:sp>
        <p:nvSpPr>
          <p:cNvPr id="15" name="TextBox 14"/>
          <p:cNvSpPr txBox="1"/>
          <p:nvPr/>
        </p:nvSpPr>
        <p:spPr>
          <a:xfrm>
            <a:off x="3090672" y="1572768"/>
            <a:ext cx="1645919" cy="365760"/>
          </a:xfrm>
          <a:prstGeom prst="rect">
            <a:avLst/>
          </a:prstGeom>
          <a:noFill/>
        </p:spPr>
        <p:txBody>
          <a:bodyPr wrap="square">
            <a:spAutoFit/>
          </a:bodyPr>
          <a:lstStyle/>
          <a:p>
            <a:pPr algn="l"/>
            <a:r>
              <a:rPr sz="1300" b="1" i="0">
                <a:solidFill>
                  <a:srgbClr val="0D1B2A"/>
                </a:solidFill>
                <a:latin typeface="Calibri"/>
              </a:rPr>
              <a:t>MONITOR</a:t>
            </a:r>
          </a:p>
        </p:txBody>
      </p:sp>
      <p:sp>
        <p:nvSpPr>
          <p:cNvPr id="16" name="TextBox 15"/>
          <p:cNvSpPr txBox="1"/>
          <p:nvPr/>
        </p:nvSpPr>
        <p:spPr>
          <a:xfrm>
            <a:off x="2788920" y="2103120"/>
            <a:ext cx="1883663" cy="2926080"/>
          </a:xfrm>
          <a:prstGeom prst="rect">
            <a:avLst/>
          </a:prstGeom>
          <a:noFill/>
        </p:spPr>
        <p:txBody>
          <a:bodyPr wrap="square">
            <a:spAutoFit/>
          </a:bodyPr>
          <a:lstStyle/>
          <a:p>
            <a:pPr algn="l"/>
            <a:r>
              <a:rPr sz="1200" b="0" i="0">
                <a:solidFill>
                  <a:srgbClr val="FFFFFF"/>
                </a:solidFill>
                <a:latin typeface="Calibri"/>
              </a:rPr>
              <a:t>LLM analyzes topic
for brand fit &amp;
market relevance</a:t>
            </a:r>
          </a:p>
        </p:txBody>
      </p:sp>
      <p:sp>
        <p:nvSpPr>
          <p:cNvPr id="17" name="TextBox 16"/>
          <p:cNvSpPr txBox="1"/>
          <p:nvPr/>
        </p:nvSpPr>
        <p:spPr>
          <a:xfrm>
            <a:off x="4818888"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18" name="Rectangle 17"/>
          <p:cNvSpPr/>
          <p:nvPr/>
        </p:nvSpPr>
        <p:spPr>
          <a:xfrm>
            <a:off x="5038344" y="1508760"/>
            <a:ext cx="2103120" cy="3840480"/>
          </a:xfrm>
          <a:prstGeom prst="rect">
            <a:avLst/>
          </a:prstGeom>
          <a:solidFill>
            <a:srgbClr val="403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38344" y="1508760"/>
            <a:ext cx="2103120" cy="45720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38344" y="1536192"/>
            <a:ext cx="457200" cy="411480"/>
          </a:xfrm>
          <a:prstGeom prst="rect">
            <a:avLst/>
          </a:prstGeom>
          <a:noFill/>
        </p:spPr>
        <p:txBody>
          <a:bodyPr wrap="square">
            <a:spAutoFit/>
          </a:bodyPr>
          <a:lstStyle/>
          <a:p>
            <a:pPr algn="ctr"/>
            <a:r>
              <a:rPr sz="1800" b="1" i="0">
                <a:solidFill>
                  <a:srgbClr val="0D1B2A"/>
                </a:solidFill>
                <a:latin typeface="Calibri"/>
              </a:rPr>
              <a:t>3</a:t>
            </a:r>
          </a:p>
        </p:txBody>
      </p:sp>
      <p:sp>
        <p:nvSpPr>
          <p:cNvPr id="21" name="TextBox 20"/>
          <p:cNvSpPr txBox="1"/>
          <p:nvPr/>
        </p:nvSpPr>
        <p:spPr>
          <a:xfrm>
            <a:off x="5449824" y="1572768"/>
            <a:ext cx="1645919" cy="365760"/>
          </a:xfrm>
          <a:prstGeom prst="rect">
            <a:avLst/>
          </a:prstGeom>
          <a:noFill/>
        </p:spPr>
        <p:txBody>
          <a:bodyPr wrap="square">
            <a:spAutoFit/>
          </a:bodyPr>
          <a:lstStyle/>
          <a:p>
            <a:pPr algn="l"/>
            <a:r>
              <a:rPr sz="1300" b="1" i="0">
                <a:solidFill>
                  <a:srgbClr val="0D1B2A"/>
                </a:solidFill>
                <a:latin typeface="Calibri"/>
              </a:rPr>
              <a:t>BRIEF</a:t>
            </a:r>
          </a:p>
        </p:txBody>
      </p:sp>
      <p:sp>
        <p:nvSpPr>
          <p:cNvPr id="22" name="TextBox 21"/>
          <p:cNvSpPr txBox="1"/>
          <p:nvPr/>
        </p:nvSpPr>
        <p:spPr>
          <a:xfrm>
            <a:off x="5148072" y="2103120"/>
            <a:ext cx="1883663" cy="2926080"/>
          </a:xfrm>
          <a:prstGeom prst="rect">
            <a:avLst/>
          </a:prstGeom>
          <a:noFill/>
        </p:spPr>
        <p:txBody>
          <a:bodyPr wrap="square">
            <a:spAutoFit/>
          </a:bodyPr>
          <a:lstStyle/>
          <a:p>
            <a:pPr algn="l"/>
            <a:r>
              <a:rPr sz="1200" b="0" i="0">
                <a:solidFill>
                  <a:srgbClr val="FFFFFF"/>
                </a:solidFill>
                <a:latin typeface="Calibri"/>
              </a:rPr>
              <a:t>Chain-of-thought
prompt generates
structured content
brief</a:t>
            </a:r>
          </a:p>
        </p:txBody>
      </p:sp>
      <p:sp>
        <p:nvSpPr>
          <p:cNvPr id="23" name="TextBox 22"/>
          <p:cNvSpPr txBox="1"/>
          <p:nvPr/>
        </p:nvSpPr>
        <p:spPr>
          <a:xfrm>
            <a:off x="7178040"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24" name="Rectangle 23"/>
          <p:cNvSpPr/>
          <p:nvPr/>
        </p:nvSpPr>
        <p:spPr>
          <a:xfrm>
            <a:off x="7397496" y="1508760"/>
            <a:ext cx="2103120" cy="3840480"/>
          </a:xfrm>
          <a:prstGeom prst="rect">
            <a:avLst/>
          </a:prstGeom>
          <a:solidFill>
            <a:srgbClr val="401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97496" y="1508760"/>
            <a:ext cx="2103120"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97496" y="1536192"/>
            <a:ext cx="457200" cy="411480"/>
          </a:xfrm>
          <a:prstGeom prst="rect">
            <a:avLst/>
          </a:prstGeom>
          <a:noFill/>
        </p:spPr>
        <p:txBody>
          <a:bodyPr wrap="square">
            <a:spAutoFit/>
          </a:bodyPr>
          <a:lstStyle/>
          <a:p>
            <a:pPr algn="ctr"/>
            <a:r>
              <a:rPr sz="1800" b="1" i="0">
                <a:solidFill>
                  <a:srgbClr val="0D1B2A"/>
                </a:solidFill>
                <a:latin typeface="Calibri"/>
              </a:rPr>
              <a:t>4</a:t>
            </a:r>
          </a:p>
        </p:txBody>
      </p:sp>
      <p:sp>
        <p:nvSpPr>
          <p:cNvPr id="27" name="TextBox 26"/>
          <p:cNvSpPr txBox="1"/>
          <p:nvPr/>
        </p:nvSpPr>
        <p:spPr>
          <a:xfrm>
            <a:off x="7808975" y="1572768"/>
            <a:ext cx="1645919" cy="365760"/>
          </a:xfrm>
          <a:prstGeom prst="rect">
            <a:avLst/>
          </a:prstGeom>
          <a:noFill/>
        </p:spPr>
        <p:txBody>
          <a:bodyPr wrap="square">
            <a:spAutoFit/>
          </a:bodyPr>
          <a:lstStyle/>
          <a:p>
            <a:pPr algn="l"/>
            <a:r>
              <a:rPr sz="1300" b="1" i="0">
                <a:solidFill>
                  <a:srgbClr val="0D1B2A"/>
                </a:solidFill>
                <a:latin typeface="Calibri"/>
              </a:rPr>
              <a:t>PUBLISH</a:t>
            </a:r>
          </a:p>
        </p:txBody>
      </p:sp>
      <p:sp>
        <p:nvSpPr>
          <p:cNvPr id="28" name="TextBox 27"/>
          <p:cNvSpPr txBox="1"/>
          <p:nvPr/>
        </p:nvSpPr>
        <p:spPr>
          <a:xfrm>
            <a:off x="7507223" y="2103120"/>
            <a:ext cx="1883663" cy="2926080"/>
          </a:xfrm>
          <a:prstGeom prst="rect">
            <a:avLst/>
          </a:prstGeom>
          <a:noFill/>
        </p:spPr>
        <p:txBody>
          <a:bodyPr wrap="square">
            <a:spAutoFit/>
          </a:bodyPr>
          <a:lstStyle/>
          <a:p>
            <a:pPr algn="l"/>
            <a:r>
              <a:rPr sz="1200" b="0" i="0">
                <a:solidFill>
                  <a:srgbClr val="FFFFFF"/>
                </a:solidFill>
                <a:latin typeface="Calibri"/>
              </a:rPr>
              <a:t>Few-shot + contextual
placement generates
final content for
target channel</a:t>
            </a:r>
          </a:p>
        </p:txBody>
      </p:sp>
      <p:sp>
        <p:nvSpPr>
          <p:cNvPr id="29" name="TextBox 28"/>
          <p:cNvSpPr txBox="1"/>
          <p:nvPr/>
        </p:nvSpPr>
        <p:spPr>
          <a:xfrm>
            <a:off x="9537192" y="2834640"/>
            <a:ext cx="201168" cy="365760"/>
          </a:xfrm>
          <a:prstGeom prst="rect">
            <a:avLst/>
          </a:prstGeom>
          <a:noFill/>
        </p:spPr>
        <p:txBody>
          <a:bodyPr wrap="square">
            <a:spAutoFit/>
          </a:bodyPr>
          <a:lstStyle/>
          <a:p>
            <a:pPr algn="l"/>
            <a:r>
              <a:rPr sz="1600" b="1" i="0">
                <a:solidFill>
                  <a:srgbClr val="00C8FF"/>
                </a:solidFill>
                <a:latin typeface="Calibri"/>
              </a:rPr>
              <a:t>▶</a:t>
            </a:r>
          </a:p>
        </p:txBody>
      </p:sp>
      <p:sp>
        <p:nvSpPr>
          <p:cNvPr id="30" name="Rectangle 29"/>
          <p:cNvSpPr/>
          <p:nvPr/>
        </p:nvSpPr>
        <p:spPr>
          <a:xfrm>
            <a:off x="9756648" y="1508760"/>
            <a:ext cx="2103120" cy="3840480"/>
          </a:xfrm>
          <a:prstGeom prst="rect">
            <a:avLst/>
          </a:prstGeom>
          <a:solidFill>
            <a:srgbClr val="280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756648" y="1508760"/>
            <a:ext cx="2103120" cy="457200"/>
          </a:xfrm>
          <a:prstGeom prst="rect">
            <a:avLst/>
          </a:prstGeom>
          <a:solidFill>
            <a:srgbClr val="CC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56648" y="1536192"/>
            <a:ext cx="457200" cy="411480"/>
          </a:xfrm>
          <a:prstGeom prst="rect">
            <a:avLst/>
          </a:prstGeom>
          <a:noFill/>
        </p:spPr>
        <p:txBody>
          <a:bodyPr wrap="square">
            <a:spAutoFit/>
          </a:bodyPr>
          <a:lstStyle/>
          <a:p>
            <a:pPr algn="ctr"/>
            <a:r>
              <a:rPr sz="1800" b="1" i="0">
                <a:solidFill>
                  <a:srgbClr val="0D1B2A"/>
                </a:solidFill>
                <a:latin typeface="Calibri"/>
              </a:rPr>
              <a:t>5</a:t>
            </a:r>
          </a:p>
        </p:txBody>
      </p:sp>
      <p:sp>
        <p:nvSpPr>
          <p:cNvPr id="33" name="TextBox 32"/>
          <p:cNvSpPr txBox="1"/>
          <p:nvPr/>
        </p:nvSpPr>
        <p:spPr>
          <a:xfrm>
            <a:off x="10168128" y="1572768"/>
            <a:ext cx="1645919" cy="365760"/>
          </a:xfrm>
          <a:prstGeom prst="rect">
            <a:avLst/>
          </a:prstGeom>
          <a:noFill/>
        </p:spPr>
        <p:txBody>
          <a:bodyPr wrap="square">
            <a:spAutoFit/>
          </a:bodyPr>
          <a:lstStyle/>
          <a:p>
            <a:pPr algn="l"/>
            <a:r>
              <a:rPr sz="1300" b="1" i="0">
                <a:solidFill>
                  <a:srgbClr val="0D1B2A"/>
                </a:solidFill>
                <a:latin typeface="Calibri"/>
              </a:rPr>
              <a:t>ITERATE</a:t>
            </a:r>
          </a:p>
        </p:txBody>
      </p:sp>
      <p:sp>
        <p:nvSpPr>
          <p:cNvPr id="34" name="TextBox 33"/>
          <p:cNvSpPr txBox="1"/>
          <p:nvPr/>
        </p:nvSpPr>
        <p:spPr>
          <a:xfrm>
            <a:off x="9866376" y="2103120"/>
            <a:ext cx="1883663" cy="2926080"/>
          </a:xfrm>
          <a:prstGeom prst="rect">
            <a:avLst/>
          </a:prstGeom>
          <a:noFill/>
        </p:spPr>
        <p:txBody>
          <a:bodyPr wrap="square">
            <a:spAutoFit/>
          </a:bodyPr>
          <a:lstStyle/>
          <a:p>
            <a:pPr algn="l"/>
            <a:r>
              <a:rPr sz="1200" b="0" i="0">
                <a:solidFill>
                  <a:srgbClr val="FFFFFF"/>
                </a:solidFill>
                <a:latin typeface="Calibri"/>
              </a:rPr>
              <a:t>Human review:
approve / edit /
regenerate
(Human-in-the-Loop)</a:t>
            </a:r>
          </a:p>
        </p:txBody>
      </p:sp>
      <p:sp>
        <p:nvSpPr>
          <p:cNvPr id="35" name="Rectangle 34"/>
          <p:cNvSpPr/>
          <p:nvPr/>
        </p:nvSpPr>
        <p:spPr>
          <a:xfrm>
            <a:off x="320040" y="5532120"/>
            <a:ext cx="11521440" cy="594360"/>
          </a:xfrm>
          <a:prstGeom prst="rect">
            <a:avLst/>
          </a:prstGeom>
          <a:solidFill>
            <a:srgbClr val="06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5577840"/>
            <a:ext cx="11155680" cy="502920"/>
          </a:xfrm>
          <a:prstGeom prst="rect">
            <a:avLst/>
          </a:prstGeom>
          <a:noFill/>
        </p:spPr>
        <p:txBody>
          <a:bodyPr wrap="square">
            <a:spAutoFit/>
          </a:bodyPr>
          <a:lstStyle/>
          <a:p>
            <a:pPr algn="l"/>
            <a:r>
              <a:rPr sz="1200" b="0" i="0">
                <a:solidFill>
                  <a:srgbClr val="00E596"/>
                </a:solidFill>
                <a:latin typeface="Calibri"/>
              </a:rPr>
              <a:t>python main.py --topic "why rest days matter" --channel blog --audience fitness_enthusiast</a:t>
            </a:r>
          </a:p>
        </p:txBody>
      </p:sp>
      <p:sp>
        <p:nvSpPr>
          <p:cNvPr id="37" name="TextBox 36"/>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04  —  EXAMPLE OUTPUT</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Generated Content — Blog Post</a:t>
            </a:r>
          </a:p>
        </p:txBody>
      </p:sp>
      <p:sp>
        <p:nvSpPr>
          <p:cNvPr id="6" name="TextBox 5"/>
          <p:cNvSpPr txBox="1"/>
          <p:nvPr/>
        </p:nvSpPr>
        <p:spPr>
          <a:xfrm>
            <a:off x="365760" y="1508760"/>
            <a:ext cx="2743200" cy="274320"/>
          </a:xfrm>
          <a:prstGeom prst="rect">
            <a:avLst/>
          </a:prstGeom>
          <a:noFill/>
        </p:spPr>
        <p:txBody>
          <a:bodyPr wrap="square">
            <a:spAutoFit/>
          </a:bodyPr>
          <a:lstStyle/>
          <a:p>
            <a:pPr algn="l"/>
            <a:r>
              <a:rPr sz="900" b="1" i="0">
                <a:solidFill>
                  <a:srgbClr val="00C8FF"/>
                </a:solidFill>
                <a:latin typeface="Calibri"/>
              </a:rPr>
              <a:t>TOPIC</a:t>
            </a:r>
          </a:p>
        </p:txBody>
      </p:sp>
      <p:sp>
        <p:nvSpPr>
          <p:cNvPr id="7" name="TextBox 6"/>
          <p:cNvSpPr txBox="1"/>
          <p:nvPr/>
        </p:nvSpPr>
        <p:spPr>
          <a:xfrm>
            <a:off x="365760" y="1783080"/>
            <a:ext cx="2743200" cy="320040"/>
          </a:xfrm>
          <a:prstGeom prst="rect">
            <a:avLst/>
          </a:prstGeom>
          <a:noFill/>
        </p:spPr>
        <p:txBody>
          <a:bodyPr wrap="square">
            <a:spAutoFit/>
          </a:bodyPr>
          <a:lstStyle/>
          <a:p>
            <a:pPr algn="l"/>
            <a:r>
              <a:rPr sz="1100" b="0" i="0">
                <a:solidFill>
                  <a:srgbClr val="FFFFFF"/>
                </a:solidFill>
                <a:latin typeface="Calibri"/>
              </a:rPr>
              <a:t>How Training Load Prevents Injuries</a:t>
            </a:r>
          </a:p>
        </p:txBody>
      </p:sp>
      <p:sp>
        <p:nvSpPr>
          <p:cNvPr id="8" name="TextBox 7"/>
          <p:cNvSpPr txBox="1"/>
          <p:nvPr/>
        </p:nvSpPr>
        <p:spPr>
          <a:xfrm>
            <a:off x="3291840" y="1508760"/>
            <a:ext cx="2743200" cy="274320"/>
          </a:xfrm>
          <a:prstGeom prst="rect">
            <a:avLst/>
          </a:prstGeom>
          <a:noFill/>
        </p:spPr>
        <p:txBody>
          <a:bodyPr wrap="square">
            <a:spAutoFit/>
          </a:bodyPr>
          <a:lstStyle/>
          <a:p>
            <a:pPr algn="l"/>
            <a:r>
              <a:rPr sz="900" b="1" i="0">
                <a:solidFill>
                  <a:srgbClr val="00C8FF"/>
                </a:solidFill>
                <a:latin typeface="Calibri"/>
              </a:rPr>
              <a:t>CHANNEL</a:t>
            </a:r>
          </a:p>
        </p:txBody>
      </p:sp>
      <p:sp>
        <p:nvSpPr>
          <p:cNvPr id="9" name="TextBox 8"/>
          <p:cNvSpPr txBox="1"/>
          <p:nvPr/>
        </p:nvSpPr>
        <p:spPr>
          <a:xfrm>
            <a:off x="3291840" y="1783080"/>
            <a:ext cx="2743200" cy="320040"/>
          </a:xfrm>
          <a:prstGeom prst="rect">
            <a:avLst/>
          </a:prstGeom>
          <a:noFill/>
        </p:spPr>
        <p:txBody>
          <a:bodyPr wrap="square">
            <a:spAutoFit/>
          </a:bodyPr>
          <a:lstStyle/>
          <a:p>
            <a:pPr algn="l"/>
            <a:r>
              <a:rPr sz="1100" b="0" i="0">
                <a:solidFill>
                  <a:srgbClr val="FFFFFF"/>
                </a:solidFill>
                <a:latin typeface="Calibri"/>
              </a:rPr>
              <a:t>Blog</a:t>
            </a:r>
          </a:p>
        </p:txBody>
      </p:sp>
      <p:sp>
        <p:nvSpPr>
          <p:cNvPr id="10" name="TextBox 9"/>
          <p:cNvSpPr txBox="1"/>
          <p:nvPr/>
        </p:nvSpPr>
        <p:spPr>
          <a:xfrm>
            <a:off x="6217920" y="1508760"/>
            <a:ext cx="2743200" cy="274320"/>
          </a:xfrm>
          <a:prstGeom prst="rect">
            <a:avLst/>
          </a:prstGeom>
          <a:noFill/>
        </p:spPr>
        <p:txBody>
          <a:bodyPr wrap="square">
            <a:spAutoFit/>
          </a:bodyPr>
          <a:lstStyle/>
          <a:p>
            <a:pPr algn="l"/>
            <a:r>
              <a:rPr sz="900" b="1" i="0">
                <a:solidFill>
                  <a:srgbClr val="00C8FF"/>
                </a:solidFill>
                <a:latin typeface="Calibri"/>
              </a:rPr>
              <a:t>AUDIENCE</a:t>
            </a:r>
          </a:p>
        </p:txBody>
      </p:sp>
      <p:sp>
        <p:nvSpPr>
          <p:cNvPr id="11" name="TextBox 10"/>
          <p:cNvSpPr txBox="1"/>
          <p:nvPr/>
        </p:nvSpPr>
        <p:spPr>
          <a:xfrm>
            <a:off x="6217920" y="1783080"/>
            <a:ext cx="2743200" cy="320040"/>
          </a:xfrm>
          <a:prstGeom prst="rect">
            <a:avLst/>
          </a:prstGeom>
          <a:noFill/>
        </p:spPr>
        <p:txBody>
          <a:bodyPr wrap="square">
            <a:spAutoFit/>
          </a:bodyPr>
          <a:lstStyle/>
          <a:p>
            <a:pPr algn="l"/>
            <a:r>
              <a:rPr sz="1100" b="0" i="0">
                <a:solidFill>
                  <a:srgbClr val="FFFFFF"/>
                </a:solidFill>
                <a:latin typeface="Calibri"/>
              </a:rPr>
              <a:t>Performance Athlete</a:t>
            </a:r>
          </a:p>
        </p:txBody>
      </p:sp>
      <p:sp>
        <p:nvSpPr>
          <p:cNvPr id="12" name="TextBox 11"/>
          <p:cNvSpPr txBox="1"/>
          <p:nvPr/>
        </p:nvSpPr>
        <p:spPr>
          <a:xfrm>
            <a:off x="9144000" y="1508760"/>
            <a:ext cx="2743200" cy="274320"/>
          </a:xfrm>
          <a:prstGeom prst="rect">
            <a:avLst/>
          </a:prstGeom>
          <a:noFill/>
        </p:spPr>
        <p:txBody>
          <a:bodyPr wrap="square">
            <a:spAutoFit/>
          </a:bodyPr>
          <a:lstStyle/>
          <a:p>
            <a:pPr algn="l"/>
            <a:r>
              <a:rPr sz="900" b="1" i="0">
                <a:solidFill>
                  <a:srgbClr val="00C8FF"/>
                </a:solidFill>
                <a:latin typeface="Calibri"/>
              </a:rPr>
              <a:t>PROVIDER</a:t>
            </a:r>
          </a:p>
        </p:txBody>
      </p:sp>
      <p:sp>
        <p:nvSpPr>
          <p:cNvPr id="13" name="TextBox 12"/>
          <p:cNvSpPr txBox="1"/>
          <p:nvPr/>
        </p:nvSpPr>
        <p:spPr>
          <a:xfrm>
            <a:off x="9144000" y="1783080"/>
            <a:ext cx="2743200" cy="320040"/>
          </a:xfrm>
          <a:prstGeom prst="rect">
            <a:avLst/>
          </a:prstGeom>
          <a:noFill/>
        </p:spPr>
        <p:txBody>
          <a:bodyPr wrap="square">
            <a:spAutoFit/>
          </a:bodyPr>
          <a:lstStyle/>
          <a:p>
            <a:pPr algn="l"/>
            <a:r>
              <a:rPr sz="1100" b="0" i="0">
                <a:solidFill>
                  <a:srgbClr val="FFFFFF"/>
                </a:solidFill>
                <a:latin typeface="Calibri"/>
              </a:rPr>
              <a:t>OpenAI GPT-4o-mini</a:t>
            </a:r>
          </a:p>
        </p:txBody>
      </p:sp>
      <p:sp>
        <p:nvSpPr>
          <p:cNvPr id="14" name="Rectangle 13"/>
          <p:cNvSpPr/>
          <p:nvPr/>
        </p:nvSpPr>
        <p:spPr>
          <a:xfrm>
            <a:off x="365760" y="2240280"/>
            <a:ext cx="11430000" cy="3977639"/>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65760" y="2240280"/>
            <a:ext cx="1143000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267712"/>
            <a:ext cx="5486400" cy="292608"/>
          </a:xfrm>
          <a:prstGeom prst="rect">
            <a:avLst/>
          </a:prstGeom>
          <a:noFill/>
        </p:spPr>
        <p:txBody>
          <a:bodyPr wrap="square">
            <a:spAutoFit/>
          </a:bodyPr>
          <a:lstStyle/>
          <a:p>
            <a:pPr algn="l"/>
            <a:r>
              <a:rPr sz="1100" b="1" i="0">
                <a:solidFill>
                  <a:srgbClr val="FFFFFF"/>
                </a:solidFill>
                <a:latin typeface="Calibri"/>
              </a:rPr>
              <a:t>GENERATED OUTPUT</a:t>
            </a:r>
          </a:p>
        </p:txBody>
      </p:sp>
      <p:sp>
        <p:nvSpPr>
          <p:cNvPr id="17" name="TextBox 16"/>
          <p:cNvSpPr txBox="1"/>
          <p:nvPr/>
        </p:nvSpPr>
        <p:spPr>
          <a:xfrm>
            <a:off x="8686800" y="2267712"/>
            <a:ext cx="2926080" cy="292608"/>
          </a:xfrm>
          <a:prstGeom prst="rect">
            <a:avLst/>
          </a:prstGeom>
          <a:noFill/>
        </p:spPr>
        <p:txBody>
          <a:bodyPr wrap="square">
            <a:spAutoFit/>
          </a:bodyPr>
          <a:lstStyle/>
          <a:p>
            <a:pPr algn="l"/>
            <a:r>
              <a:rPr sz="1000" b="0" i="0">
                <a:solidFill>
                  <a:srgbClr val="00E596"/>
                </a:solidFill>
                <a:latin typeface="Calibri"/>
              </a:rPr>
              <a:t>✓ Saved to /outputs/</a:t>
            </a:r>
          </a:p>
        </p:txBody>
      </p:sp>
      <p:sp>
        <p:nvSpPr>
          <p:cNvPr id="18" name="TextBox 17"/>
          <p:cNvSpPr txBox="1"/>
          <p:nvPr/>
        </p:nvSpPr>
        <p:spPr>
          <a:xfrm>
            <a:off x="548640" y="2679192"/>
            <a:ext cx="11064240" cy="3429000"/>
          </a:xfrm>
          <a:prstGeom prst="rect">
            <a:avLst/>
          </a:prstGeom>
          <a:noFill/>
        </p:spPr>
        <p:txBody>
          <a:bodyPr wrap="square">
            <a:spAutoFit/>
          </a:bodyPr>
          <a:lstStyle/>
          <a:p>
            <a:pPr algn="l"/>
            <a:r>
              <a:rPr sz="1300" b="0" i="0">
                <a:solidFill>
                  <a:srgbClr val="FFFFFF"/>
                </a:solidFill>
                <a:latin typeface="Calibri"/>
              </a:rPr>
              <a:t>Why Training Load Management is Your Best Defense Against Injuries
Did you know that the right training load can be your best defense against injuries? Performance athletes often push their limits, but without understanding training load, they risk injury and burnout.
FitByte's Recovery Score transforms complex data into one actionable number — telling you when to push harder and when to ease off. Athletes who manage their training loads report fewer injuries and improved overall performance.
68% of serious athletes now track recovery metrics. FitByte's dual-frequency GPS and 14-day battery keep you informed across every session. Ready to take control? Start tracking your training load today.</a:t>
            </a:r>
          </a:p>
        </p:txBody>
      </p:sp>
      <p:sp>
        <p:nvSpPr>
          <p:cNvPr id="19" name="TextBox 18"/>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05  —  UNIQUENESS DEMONSTRATION  ⭐ CRITICAL</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FitByte vs Generic ChatGPT</a:t>
            </a:r>
          </a:p>
        </p:txBody>
      </p:sp>
      <p:sp>
        <p:nvSpPr>
          <p:cNvPr id="6" name="Rectangle 5"/>
          <p:cNvSpPr/>
          <p:nvPr/>
        </p:nvSpPr>
        <p:spPr>
          <a:xfrm>
            <a:off x="365760" y="1463040"/>
            <a:ext cx="11430000" cy="365760"/>
          </a:xfrm>
          <a:prstGeom prst="rect">
            <a:avLst/>
          </a:prstGeom>
          <a:solidFill>
            <a:srgbClr val="0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90472"/>
            <a:ext cx="10972800" cy="301752"/>
          </a:xfrm>
          <a:prstGeom prst="rect">
            <a:avLst/>
          </a:prstGeom>
          <a:noFill/>
        </p:spPr>
        <p:txBody>
          <a:bodyPr wrap="square">
            <a:spAutoFit/>
          </a:bodyPr>
          <a:lstStyle/>
          <a:p>
            <a:pPr algn="l"/>
            <a:r>
              <a:rPr sz="1100" b="0" i="0">
                <a:solidFill>
                  <a:srgbClr val="00C8FF"/>
                </a:solidFill>
                <a:latin typeface="Calibri"/>
              </a:rPr>
              <a:t>Topic: "Sleep quality and recovery"   |   Channel: Blog</a:t>
            </a:r>
          </a:p>
        </p:txBody>
      </p:sp>
      <p:sp>
        <p:nvSpPr>
          <p:cNvPr id="8" name="Rectangle 7"/>
          <p:cNvSpPr/>
          <p:nvPr/>
        </p:nvSpPr>
        <p:spPr>
          <a:xfrm>
            <a:off x="365760" y="1920240"/>
            <a:ext cx="5394960" cy="411480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920240"/>
            <a:ext cx="5394960" cy="384048"/>
          </a:xfrm>
          <a:prstGeom prst="rect">
            <a:avLst/>
          </a:prstGeom>
          <a:solidFill>
            <a:srgbClr val="005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956816"/>
            <a:ext cx="5120640" cy="320040"/>
          </a:xfrm>
          <a:prstGeom prst="rect">
            <a:avLst/>
          </a:prstGeom>
          <a:noFill/>
        </p:spPr>
        <p:txBody>
          <a:bodyPr wrap="square">
            <a:spAutoFit/>
          </a:bodyPr>
          <a:lstStyle/>
          <a:p>
            <a:pPr algn="l"/>
            <a:r>
              <a:rPr sz="1100" b="1" i="0">
                <a:solidFill>
                  <a:srgbClr val="FFFFFF"/>
                </a:solidFill>
                <a:latin typeface="Calibri"/>
              </a:rPr>
              <a:t>FITBYTE BRANDED OUTPUT</a:t>
            </a:r>
          </a:p>
        </p:txBody>
      </p:sp>
      <p:sp>
        <p:nvSpPr>
          <p:cNvPr id="11" name="TextBox 10"/>
          <p:cNvSpPr txBox="1"/>
          <p:nvPr/>
        </p:nvSpPr>
        <p:spPr>
          <a:xfrm>
            <a:off x="502920" y="2395728"/>
            <a:ext cx="5120640" cy="3520440"/>
          </a:xfrm>
          <a:prstGeom prst="rect">
            <a:avLst/>
          </a:prstGeom>
          <a:noFill/>
        </p:spPr>
        <p:txBody>
          <a:bodyPr wrap="square">
            <a:spAutoFit/>
          </a:bodyPr>
          <a:lstStyle/>
          <a:p>
            <a:pPr algn="l"/>
            <a:r>
              <a:rPr sz="1200" b="0" i="0">
                <a:solidFill>
                  <a:srgbClr val="FFFFFF"/>
                </a:solidFill>
                <a:latin typeface="Calibri"/>
              </a:rPr>
              <a:t>6-Stage Sleep. Serious Recovery.
You trained hard this week. But did you actually recover?
FitByte's 6-stage sleep tracking doesn't just log light and deep sleep — it maps every sleep cycle against your Recovery Score. When your score drops below 60, your body is telling you something.
68% of serious athletes now monitor recovery. The ones who don't are guessing. FitByte gives you the data to stop guessing — and start performing on purpose.</a:t>
            </a:r>
          </a:p>
        </p:txBody>
      </p:sp>
      <p:sp>
        <p:nvSpPr>
          <p:cNvPr id="12" name="Rectangle 11"/>
          <p:cNvSpPr/>
          <p:nvPr/>
        </p:nvSpPr>
        <p:spPr>
          <a:xfrm>
            <a:off x="6126480" y="1920240"/>
            <a:ext cx="5394960" cy="411480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1920240"/>
            <a:ext cx="5394960" cy="38404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956816"/>
            <a:ext cx="5120640" cy="320040"/>
          </a:xfrm>
          <a:prstGeom prst="rect">
            <a:avLst/>
          </a:prstGeom>
          <a:noFill/>
        </p:spPr>
        <p:txBody>
          <a:bodyPr wrap="square">
            <a:spAutoFit/>
          </a:bodyPr>
          <a:lstStyle/>
          <a:p>
            <a:pPr algn="l"/>
            <a:r>
              <a:rPr sz="1100" b="1" i="0">
                <a:solidFill>
                  <a:srgbClr val="C8D6E5"/>
                </a:solidFill>
                <a:latin typeface="Calibri"/>
              </a:rPr>
              <a:t>GENERIC CHATGPT OUTPUT</a:t>
            </a:r>
          </a:p>
        </p:txBody>
      </p:sp>
      <p:sp>
        <p:nvSpPr>
          <p:cNvPr id="15" name="TextBox 14"/>
          <p:cNvSpPr txBox="1"/>
          <p:nvPr/>
        </p:nvSpPr>
        <p:spPr>
          <a:xfrm>
            <a:off x="6263640" y="2395728"/>
            <a:ext cx="5120640" cy="3520440"/>
          </a:xfrm>
          <a:prstGeom prst="rect">
            <a:avLst/>
          </a:prstGeom>
          <a:noFill/>
        </p:spPr>
        <p:txBody>
          <a:bodyPr wrap="square">
            <a:spAutoFit/>
          </a:bodyPr>
          <a:lstStyle/>
          <a:p>
            <a:pPr algn="l"/>
            <a:r>
              <a:rPr sz="1200" b="0" i="0">
                <a:solidFill>
                  <a:srgbClr val="C8D6E5"/>
                </a:solidFill>
                <a:latin typeface="Calibri"/>
              </a:rPr>
              <a:t>Improving Your Sleep Quality
Getting good sleep is essential for overall health and recovery. When you sleep well, your body repairs muscle tissue and consolidates memories.
There are many ways to improve your sleep. Try going to bed at the same time each night, limiting screen time before bed, and keeping your bedroom cool and dark.
Remember, quality sleep leads to better performance in your daily activities and workouts.</a:t>
            </a:r>
          </a:p>
        </p:txBody>
      </p:sp>
      <p:sp>
        <p:nvSpPr>
          <p:cNvPr id="16" name="Rectangle 15"/>
          <p:cNvSpPr/>
          <p:nvPr/>
        </p:nvSpPr>
        <p:spPr>
          <a:xfrm>
            <a:off x="5760720" y="1920240"/>
            <a:ext cx="365760" cy="41148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720" y="3749039"/>
            <a:ext cx="365760" cy="457200"/>
          </a:xfrm>
          <a:prstGeom prst="rect">
            <a:avLst/>
          </a:prstGeom>
          <a:noFill/>
        </p:spPr>
        <p:txBody>
          <a:bodyPr wrap="square">
            <a:spAutoFit/>
          </a:bodyPr>
          <a:lstStyle/>
          <a:p>
            <a:pPr algn="ctr"/>
            <a:r>
              <a:rPr sz="1400" b="1" i="0">
                <a:solidFill>
                  <a:srgbClr val="FF6B35"/>
                </a:solidFill>
                <a:latin typeface="Calibri"/>
              </a:rPr>
              <a:t>VS</a:t>
            </a:r>
          </a:p>
        </p:txBody>
      </p:sp>
      <p:sp>
        <p:nvSpPr>
          <p:cNvPr id="18" name="Rectangle 17"/>
          <p:cNvSpPr/>
          <p:nvPr/>
        </p:nvSpPr>
        <p:spPr>
          <a:xfrm>
            <a:off x="365760" y="6126480"/>
            <a:ext cx="11430000" cy="594360"/>
          </a:xfrm>
          <a:prstGeom prst="rect">
            <a:avLst/>
          </a:prstGeom>
          <a:solidFill>
            <a:srgbClr val="0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6163056"/>
            <a:ext cx="2011680" cy="457200"/>
          </a:xfrm>
          <a:prstGeom prst="rect">
            <a:avLst/>
          </a:prstGeom>
          <a:noFill/>
        </p:spPr>
        <p:txBody>
          <a:bodyPr wrap="square">
            <a:spAutoFit/>
          </a:bodyPr>
          <a:lstStyle/>
          <a:p>
            <a:pPr algn="l"/>
            <a:r>
              <a:rPr sz="1100" b="1" i="0">
                <a:solidFill>
                  <a:srgbClr val="00C8FF"/>
                </a:solidFill>
                <a:latin typeface="Calibri"/>
              </a:rPr>
              <a:t>FitByte advantages:  </a:t>
            </a:r>
          </a:p>
        </p:txBody>
      </p:sp>
      <p:sp>
        <p:nvSpPr>
          <p:cNvPr id="20" name="Rectangle 19"/>
          <p:cNvSpPr/>
          <p:nvPr/>
        </p:nvSpPr>
        <p:spPr>
          <a:xfrm>
            <a:off x="246888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60320" y="6217920"/>
            <a:ext cx="2011680" cy="310896"/>
          </a:xfrm>
          <a:prstGeom prst="rect">
            <a:avLst/>
          </a:prstGeom>
          <a:noFill/>
        </p:spPr>
        <p:txBody>
          <a:bodyPr wrap="square">
            <a:spAutoFit/>
          </a:bodyPr>
          <a:lstStyle/>
          <a:p>
            <a:pPr algn="ctr"/>
            <a:r>
              <a:rPr sz="1000" b="0" i="0">
                <a:solidFill>
                  <a:srgbClr val="FFFFFF"/>
                </a:solidFill>
                <a:latin typeface="Calibri"/>
              </a:rPr>
              <a:t>Brand voice</a:t>
            </a:r>
          </a:p>
        </p:txBody>
      </p:sp>
      <p:sp>
        <p:nvSpPr>
          <p:cNvPr id="22" name="Rectangle 21"/>
          <p:cNvSpPr/>
          <p:nvPr/>
        </p:nvSpPr>
        <p:spPr>
          <a:xfrm>
            <a:off x="480060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92040" y="6217920"/>
            <a:ext cx="2011680" cy="310896"/>
          </a:xfrm>
          <a:prstGeom prst="rect">
            <a:avLst/>
          </a:prstGeom>
          <a:noFill/>
        </p:spPr>
        <p:txBody>
          <a:bodyPr wrap="square">
            <a:spAutoFit/>
          </a:bodyPr>
          <a:lstStyle/>
          <a:p>
            <a:pPr algn="ctr"/>
            <a:r>
              <a:rPr sz="1000" b="0" i="0">
                <a:solidFill>
                  <a:srgbClr val="FFFFFF"/>
                </a:solidFill>
                <a:latin typeface="Calibri"/>
              </a:rPr>
              <a:t>Specific product refs (6-stage, 14-day)</a:t>
            </a:r>
          </a:p>
        </p:txBody>
      </p:sp>
      <p:sp>
        <p:nvSpPr>
          <p:cNvPr id="24" name="Rectangle 23"/>
          <p:cNvSpPr/>
          <p:nvPr/>
        </p:nvSpPr>
        <p:spPr>
          <a:xfrm>
            <a:off x="713232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23759" y="6217920"/>
            <a:ext cx="2011680" cy="310896"/>
          </a:xfrm>
          <a:prstGeom prst="rect">
            <a:avLst/>
          </a:prstGeom>
          <a:noFill/>
        </p:spPr>
        <p:txBody>
          <a:bodyPr wrap="square">
            <a:spAutoFit/>
          </a:bodyPr>
          <a:lstStyle/>
          <a:p>
            <a:pPr algn="ctr"/>
            <a:r>
              <a:rPr sz="1000" b="0" i="0">
                <a:solidFill>
                  <a:srgbClr val="FFFFFF"/>
                </a:solidFill>
                <a:latin typeface="Calibri"/>
              </a:rPr>
              <a:t>Real data (68% stat)</a:t>
            </a:r>
          </a:p>
        </p:txBody>
      </p:sp>
      <p:sp>
        <p:nvSpPr>
          <p:cNvPr id="26" name="Rectangle 25"/>
          <p:cNvSpPr/>
          <p:nvPr/>
        </p:nvSpPr>
        <p:spPr>
          <a:xfrm>
            <a:off x="9464040" y="6199632"/>
            <a:ext cx="2194560" cy="347472"/>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555480" y="6217920"/>
            <a:ext cx="2011680" cy="310896"/>
          </a:xfrm>
          <a:prstGeom prst="rect">
            <a:avLst/>
          </a:prstGeom>
          <a:noFill/>
        </p:spPr>
        <p:txBody>
          <a:bodyPr wrap="square">
            <a:spAutoFit/>
          </a:bodyPr>
          <a:lstStyle/>
          <a:p>
            <a:pPr algn="ctr"/>
            <a:r>
              <a:rPr sz="1000" b="0" i="0">
                <a:solidFill>
                  <a:srgbClr val="FFFFFF"/>
                </a:solidFill>
                <a:latin typeface="Calibri"/>
              </a:rPr>
              <a:t>Audience insight</a:t>
            </a:r>
          </a:p>
        </p:txBody>
      </p:sp>
      <p:sp>
        <p:nvSpPr>
          <p:cNvPr id="28" name="TextBox 27"/>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05B  —  HUMAN-IN-THE-LOOP EVALUATION</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Iterative Refinement System</a:t>
            </a:r>
          </a:p>
        </p:txBody>
      </p:sp>
      <p:sp>
        <p:nvSpPr>
          <p:cNvPr id="6" name="Rectangle 5"/>
          <p:cNvSpPr/>
          <p:nvPr/>
        </p:nvSpPr>
        <p:spPr>
          <a:xfrm>
            <a:off x="320040"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508760"/>
            <a:ext cx="2743200" cy="3657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79" y="1536192"/>
            <a:ext cx="640080" cy="310896"/>
          </a:xfrm>
          <a:prstGeom prst="rect">
            <a:avLst/>
          </a:prstGeom>
          <a:noFill/>
        </p:spPr>
        <p:txBody>
          <a:bodyPr wrap="square">
            <a:spAutoFit/>
          </a:bodyPr>
          <a:lstStyle/>
          <a:p>
            <a:pPr algn="l"/>
            <a:r>
              <a:rPr sz="1100" b="1" i="0">
                <a:solidFill>
                  <a:srgbClr val="0D1B2A"/>
                </a:solidFill>
                <a:latin typeface="Calibri"/>
              </a:rPr>
              <a:t>Test 1</a:t>
            </a:r>
          </a:p>
        </p:txBody>
      </p:sp>
      <p:sp>
        <p:nvSpPr>
          <p:cNvPr id="9" name="TextBox 8"/>
          <p:cNvSpPr txBox="1"/>
          <p:nvPr/>
        </p:nvSpPr>
        <p:spPr>
          <a:xfrm>
            <a:off x="960119" y="1554480"/>
            <a:ext cx="2011680" cy="310896"/>
          </a:xfrm>
          <a:prstGeom prst="rect">
            <a:avLst/>
          </a:prstGeom>
          <a:noFill/>
        </p:spPr>
        <p:txBody>
          <a:bodyPr wrap="square">
            <a:spAutoFit/>
          </a:bodyPr>
          <a:lstStyle/>
          <a:p>
            <a:pPr algn="l"/>
            <a:r>
              <a:rPr sz="1100" b="1" i="0">
                <a:solidFill>
                  <a:srgbClr val="0D1B2A"/>
                </a:solidFill>
                <a:latin typeface="Calibri"/>
              </a:rPr>
              <a:t>Add Metrics</a:t>
            </a:r>
          </a:p>
        </p:txBody>
      </p:sp>
      <p:sp>
        <p:nvSpPr>
          <p:cNvPr id="10" name="TextBox 9"/>
          <p:cNvSpPr txBox="1"/>
          <p:nvPr/>
        </p:nvSpPr>
        <p:spPr>
          <a:xfrm>
            <a:off x="411479" y="1993392"/>
            <a:ext cx="2560320" cy="274320"/>
          </a:xfrm>
          <a:prstGeom prst="rect">
            <a:avLst/>
          </a:prstGeom>
          <a:noFill/>
        </p:spPr>
        <p:txBody>
          <a:bodyPr wrap="square">
            <a:spAutoFit/>
          </a:bodyPr>
          <a:lstStyle/>
          <a:p>
            <a:pPr algn="l"/>
            <a:r>
              <a:rPr sz="1000" b="1" i="0">
                <a:solidFill>
                  <a:srgbClr val="00C8FF"/>
                </a:solidFill>
                <a:latin typeface="Calibri"/>
              </a:rPr>
              <a:t>Human Input:</a:t>
            </a:r>
          </a:p>
        </p:txBody>
      </p:sp>
      <p:sp>
        <p:nvSpPr>
          <p:cNvPr id="11" name="TextBox 10"/>
          <p:cNvSpPr txBox="1"/>
          <p:nvPr/>
        </p:nvSpPr>
        <p:spPr>
          <a:xfrm>
            <a:off x="411479" y="2267712"/>
            <a:ext cx="2560320" cy="457200"/>
          </a:xfrm>
          <a:prstGeom prst="rect">
            <a:avLst/>
          </a:prstGeom>
          <a:noFill/>
        </p:spPr>
        <p:txBody>
          <a:bodyPr wrap="square">
            <a:spAutoFit/>
          </a:bodyPr>
          <a:lstStyle/>
          <a:p>
            <a:pPr algn="l"/>
            <a:r>
              <a:rPr sz="1000" b="0" i="1">
                <a:solidFill>
                  <a:srgbClr val="C8D6E5"/>
                </a:solidFill>
                <a:latin typeface="Calibri"/>
              </a:rPr>
              <a:t>add metrics as proof</a:t>
            </a:r>
          </a:p>
        </p:txBody>
      </p:sp>
      <p:sp>
        <p:nvSpPr>
          <p:cNvPr id="12" name="TextBox 11"/>
          <p:cNvSpPr txBox="1"/>
          <p:nvPr/>
        </p:nvSpPr>
        <p:spPr>
          <a:xfrm>
            <a:off x="411479" y="2834640"/>
            <a:ext cx="2560320" cy="274320"/>
          </a:xfrm>
          <a:prstGeom prst="rect">
            <a:avLst/>
          </a:prstGeom>
          <a:noFill/>
        </p:spPr>
        <p:txBody>
          <a:bodyPr wrap="square">
            <a:spAutoFit/>
          </a:bodyPr>
          <a:lstStyle/>
          <a:p>
            <a:pPr algn="l"/>
            <a:r>
              <a:rPr sz="1000" b="1" i="0">
                <a:solidFill>
                  <a:srgbClr val="00C8FF"/>
                </a:solidFill>
                <a:latin typeface="Calibri"/>
              </a:rPr>
              <a:t>Result:</a:t>
            </a:r>
          </a:p>
        </p:txBody>
      </p:sp>
      <p:sp>
        <p:nvSpPr>
          <p:cNvPr id="13" name="TextBox 12"/>
          <p:cNvSpPr txBox="1"/>
          <p:nvPr/>
        </p:nvSpPr>
        <p:spPr>
          <a:xfrm>
            <a:off x="411479" y="3127248"/>
            <a:ext cx="2560320" cy="1463040"/>
          </a:xfrm>
          <a:prstGeom prst="rect">
            <a:avLst/>
          </a:prstGeom>
          <a:noFill/>
        </p:spPr>
        <p:txBody>
          <a:bodyPr wrap="square">
            <a:spAutoFit/>
          </a:bodyPr>
          <a:lstStyle/>
          <a:p>
            <a:pPr algn="l"/>
            <a:r>
              <a:rPr sz="1000" b="0" i="0">
                <a:solidFill>
                  <a:srgbClr val="FFFFFF"/>
                </a:solidFill>
                <a:latin typeface="Calibri"/>
              </a:rPr>
              <a:t>Metrics added consistently
Increased credibility
Content shifts: generic → evidence-based</a:t>
            </a:r>
          </a:p>
        </p:txBody>
      </p:sp>
      <p:sp>
        <p:nvSpPr>
          <p:cNvPr id="14" name="Rectangle 13"/>
          <p:cNvSpPr/>
          <p:nvPr/>
        </p:nvSpPr>
        <p:spPr>
          <a:xfrm>
            <a:off x="3200400"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0" y="1508760"/>
            <a:ext cx="2743200" cy="36576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0" y="1536192"/>
            <a:ext cx="640080" cy="310896"/>
          </a:xfrm>
          <a:prstGeom prst="rect">
            <a:avLst/>
          </a:prstGeom>
          <a:noFill/>
        </p:spPr>
        <p:txBody>
          <a:bodyPr wrap="square">
            <a:spAutoFit/>
          </a:bodyPr>
          <a:lstStyle/>
          <a:p>
            <a:pPr algn="l"/>
            <a:r>
              <a:rPr sz="1100" b="1" i="0">
                <a:solidFill>
                  <a:srgbClr val="0D1B2A"/>
                </a:solidFill>
                <a:latin typeface="Calibri"/>
              </a:rPr>
              <a:t>Test 2</a:t>
            </a:r>
          </a:p>
        </p:txBody>
      </p:sp>
      <p:sp>
        <p:nvSpPr>
          <p:cNvPr id="17" name="TextBox 16"/>
          <p:cNvSpPr txBox="1"/>
          <p:nvPr/>
        </p:nvSpPr>
        <p:spPr>
          <a:xfrm>
            <a:off x="3840480" y="1554480"/>
            <a:ext cx="2011680" cy="310896"/>
          </a:xfrm>
          <a:prstGeom prst="rect">
            <a:avLst/>
          </a:prstGeom>
          <a:noFill/>
        </p:spPr>
        <p:txBody>
          <a:bodyPr wrap="square">
            <a:spAutoFit/>
          </a:bodyPr>
          <a:lstStyle/>
          <a:p>
            <a:pPr algn="l"/>
            <a:r>
              <a:rPr sz="1100" b="1" i="0">
                <a:solidFill>
                  <a:srgbClr val="0D1B2A"/>
                </a:solidFill>
                <a:latin typeface="Calibri"/>
              </a:rPr>
              <a:t>Length Control</a:t>
            </a:r>
          </a:p>
        </p:txBody>
      </p:sp>
      <p:sp>
        <p:nvSpPr>
          <p:cNvPr id="18" name="TextBox 17"/>
          <p:cNvSpPr txBox="1"/>
          <p:nvPr/>
        </p:nvSpPr>
        <p:spPr>
          <a:xfrm>
            <a:off x="3291840" y="1993392"/>
            <a:ext cx="2560320" cy="274320"/>
          </a:xfrm>
          <a:prstGeom prst="rect">
            <a:avLst/>
          </a:prstGeom>
          <a:noFill/>
        </p:spPr>
        <p:txBody>
          <a:bodyPr wrap="square">
            <a:spAutoFit/>
          </a:bodyPr>
          <a:lstStyle/>
          <a:p>
            <a:pPr algn="l"/>
            <a:r>
              <a:rPr sz="1000" b="1" i="0">
                <a:solidFill>
                  <a:srgbClr val="00E596"/>
                </a:solidFill>
                <a:latin typeface="Calibri"/>
              </a:rPr>
              <a:t>Human Input:</a:t>
            </a:r>
          </a:p>
        </p:txBody>
      </p:sp>
      <p:sp>
        <p:nvSpPr>
          <p:cNvPr id="19" name="TextBox 18"/>
          <p:cNvSpPr txBox="1"/>
          <p:nvPr/>
        </p:nvSpPr>
        <p:spPr>
          <a:xfrm>
            <a:off x="3291840" y="2267712"/>
            <a:ext cx="2560320" cy="457200"/>
          </a:xfrm>
          <a:prstGeom prst="rect">
            <a:avLst/>
          </a:prstGeom>
          <a:noFill/>
        </p:spPr>
        <p:txBody>
          <a:bodyPr wrap="square">
            <a:spAutoFit/>
          </a:bodyPr>
          <a:lstStyle/>
          <a:p>
            <a:pPr algn="l"/>
            <a:r>
              <a:rPr sz="1000" b="0" i="1">
                <a:solidFill>
                  <a:srgbClr val="C8D6E5"/>
                </a:solidFill>
                <a:latin typeface="Calibri"/>
              </a:rPr>
              <a:t>Shorten it to X words</a:t>
            </a:r>
          </a:p>
        </p:txBody>
      </p:sp>
      <p:sp>
        <p:nvSpPr>
          <p:cNvPr id="20" name="TextBox 19"/>
          <p:cNvSpPr txBox="1"/>
          <p:nvPr/>
        </p:nvSpPr>
        <p:spPr>
          <a:xfrm>
            <a:off x="3291840" y="2834640"/>
            <a:ext cx="2560320" cy="274320"/>
          </a:xfrm>
          <a:prstGeom prst="rect">
            <a:avLst/>
          </a:prstGeom>
          <a:noFill/>
        </p:spPr>
        <p:txBody>
          <a:bodyPr wrap="square">
            <a:spAutoFit/>
          </a:bodyPr>
          <a:lstStyle/>
          <a:p>
            <a:pPr algn="l"/>
            <a:r>
              <a:rPr sz="1000" b="1" i="0">
                <a:solidFill>
                  <a:srgbClr val="00E596"/>
                </a:solidFill>
                <a:latin typeface="Calibri"/>
              </a:rPr>
              <a:t>Result:</a:t>
            </a:r>
          </a:p>
        </p:txBody>
      </p:sp>
      <p:sp>
        <p:nvSpPr>
          <p:cNvPr id="21" name="TextBox 20"/>
          <p:cNvSpPr txBox="1"/>
          <p:nvPr/>
        </p:nvSpPr>
        <p:spPr>
          <a:xfrm>
            <a:off x="3291840" y="3127248"/>
            <a:ext cx="2560320" cy="1463040"/>
          </a:xfrm>
          <a:prstGeom prst="rect">
            <a:avLst/>
          </a:prstGeom>
          <a:noFill/>
        </p:spPr>
        <p:txBody>
          <a:bodyPr wrap="square">
            <a:spAutoFit/>
          </a:bodyPr>
          <a:lstStyle/>
          <a:p>
            <a:pPr algn="l"/>
            <a:r>
              <a:rPr sz="1000" b="0" i="0">
                <a:solidFill>
                  <a:srgbClr val="FFFFFF"/>
                </a:solidFill>
                <a:latin typeface="Calibri"/>
              </a:rPr>
              <a:t>Model compresses well
Maintains core message
Channel-specific optimization</a:t>
            </a:r>
          </a:p>
        </p:txBody>
      </p:sp>
      <p:sp>
        <p:nvSpPr>
          <p:cNvPr id="22" name="Rectangle 21"/>
          <p:cNvSpPr/>
          <p:nvPr/>
        </p:nvSpPr>
        <p:spPr>
          <a:xfrm>
            <a:off x="6080759"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080759" y="1508760"/>
            <a:ext cx="2743200" cy="3657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72199" y="1536192"/>
            <a:ext cx="640080" cy="310896"/>
          </a:xfrm>
          <a:prstGeom prst="rect">
            <a:avLst/>
          </a:prstGeom>
          <a:noFill/>
        </p:spPr>
        <p:txBody>
          <a:bodyPr wrap="square">
            <a:spAutoFit/>
          </a:bodyPr>
          <a:lstStyle/>
          <a:p>
            <a:pPr algn="l"/>
            <a:r>
              <a:rPr sz="1100" b="1" i="0">
                <a:solidFill>
                  <a:srgbClr val="0D1B2A"/>
                </a:solidFill>
                <a:latin typeface="Calibri"/>
              </a:rPr>
              <a:t>Test 3</a:t>
            </a:r>
          </a:p>
        </p:txBody>
      </p:sp>
      <p:sp>
        <p:nvSpPr>
          <p:cNvPr id="25" name="TextBox 24"/>
          <p:cNvSpPr txBox="1"/>
          <p:nvPr/>
        </p:nvSpPr>
        <p:spPr>
          <a:xfrm>
            <a:off x="6720840" y="1554480"/>
            <a:ext cx="2011680" cy="310896"/>
          </a:xfrm>
          <a:prstGeom prst="rect">
            <a:avLst/>
          </a:prstGeom>
          <a:noFill/>
        </p:spPr>
        <p:txBody>
          <a:bodyPr wrap="square">
            <a:spAutoFit/>
          </a:bodyPr>
          <a:lstStyle/>
          <a:p>
            <a:pPr algn="l"/>
            <a:r>
              <a:rPr sz="1100" b="1" i="0">
                <a:solidFill>
                  <a:srgbClr val="0D1B2A"/>
                </a:solidFill>
                <a:latin typeface="Calibri"/>
              </a:rPr>
              <a:t>Context Injection</a:t>
            </a:r>
          </a:p>
        </p:txBody>
      </p:sp>
      <p:sp>
        <p:nvSpPr>
          <p:cNvPr id="26" name="TextBox 25"/>
          <p:cNvSpPr txBox="1"/>
          <p:nvPr/>
        </p:nvSpPr>
        <p:spPr>
          <a:xfrm>
            <a:off x="6172199" y="1993392"/>
            <a:ext cx="2560320" cy="274320"/>
          </a:xfrm>
          <a:prstGeom prst="rect">
            <a:avLst/>
          </a:prstGeom>
          <a:noFill/>
        </p:spPr>
        <p:txBody>
          <a:bodyPr wrap="square">
            <a:spAutoFit/>
          </a:bodyPr>
          <a:lstStyle/>
          <a:p>
            <a:pPr algn="l"/>
            <a:r>
              <a:rPr sz="1000" b="1" i="0">
                <a:solidFill>
                  <a:srgbClr val="FFC000"/>
                </a:solidFill>
                <a:latin typeface="Calibri"/>
              </a:rPr>
              <a:t>Human Input:</a:t>
            </a:r>
          </a:p>
        </p:txBody>
      </p:sp>
      <p:sp>
        <p:nvSpPr>
          <p:cNvPr id="27" name="TextBox 26"/>
          <p:cNvSpPr txBox="1"/>
          <p:nvPr/>
        </p:nvSpPr>
        <p:spPr>
          <a:xfrm>
            <a:off x="6172199" y="2267712"/>
            <a:ext cx="2560320" cy="457200"/>
          </a:xfrm>
          <a:prstGeom prst="rect">
            <a:avLst/>
          </a:prstGeom>
          <a:noFill/>
        </p:spPr>
        <p:txBody>
          <a:bodyPr wrap="square">
            <a:spAutoFit/>
          </a:bodyPr>
          <a:lstStyle/>
          <a:p>
            <a:pPr algn="l"/>
            <a:r>
              <a:rPr sz="1000" b="0" i="1">
                <a:solidFill>
                  <a:srgbClr val="C8D6E5"/>
                </a:solidFill>
                <a:latin typeface="Calibri"/>
              </a:rPr>
              <a:t>tie it to the upcoming Ironman</a:t>
            </a:r>
          </a:p>
        </p:txBody>
      </p:sp>
      <p:sp>
        <p:nvSpPr>
          <p:cNvPr id="28" name="TextBox 27"/>
          <p:cNvSpPr txBox="1"/>
          <p:nvPr/>
        </p:nvSpPr>
        <p:spPr>
          <a:xfrm>
            <a:off x="6172199" y="2834640"/>
            <a:ext cx="2560320" cy="274320"/>
          </a:xfrm>
          <a:prstGeom prst="rect">
            <a:avLst/>
          </a:prstGeom>
          <a:noFill/>
        </p:spPr>
        <p:txBody>
          <a:bodyPr wrap="square">
            <a:spAutoFit/>
          </a:bodyPr>
          <a:lstStyle/>
          <a:p>
            <a:pPr algn="l"/>
            <a:r>
              <a:rPr sz="1000" b="1" i="0">
                <a:solidFill>
                  <a:srgbClr val="FFC000"/>
                </a:solidFill>
                <a:latin typeface="Calibri"/>
              </a:rPr>
              <a:t>Result:</a:t>
            </a:r>
          </a:p>
        </p:txBody>
      </p:sp>
      <p:sp>
        <p:nvSpPr>
          <p:cNvPr id="29" name="TextBox 28"/>
          <p:cNvSpPr txBox="1"/>
          <p:nvPr/>
        </p:nvSpPr>
        <p:spPr>
          <a:xfrm>
            <a:off x="6172199" y="3127248"/>
            <a:ext cx="2560320" cy="1463040"/>
          </a:xfrm>
          <a:prstGeom prst="rect">
            <a:avLst/>
          </a:prstGeom>
          <a:noFill/>
        </p:spPr>
        <p:txBody>
          <a:bodyPr wrap="square">
            <a:spAutoFit/>
          </a:bodyPr>
          <a:lstStyle/>
          <a:p>
            <a:pPr algn="l"/>
            <a:r>
              <a:rPr sz="1000" b="0" i="0">
                <a:solidFill>
                  <a:srgbClr val="FFFFFF"/>
                </a:solidFill>
                <a:latin typeface="Calibri"/>
              </a:rPr>
              <a:t>Content becomes scenario-specific
Stronger emotional relevance
Generic fitness → endurance focus</a:t>
            </a:r>
          </a:p>
        </p:txBody>
      </p:sp>
      <p:sp>
        <p:nvSpPr>
          <p:cNvPr id="30" name="Rectangle 29"/>
          <p:cNvSpPr/>
          <p:nvPr/>
        </p:nvSpPr>
        <p:spPr>
          <a:xfrm>
            <a:off x="8961119" y="1508760"/>
            <a:ext cx="2743200" cy="42976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961119" y="1508760"/>
            <a:ext cx="2743200" cy="3657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52559" y="1536192"/>
            <a:ext cx="640080" cy="310896"/>
          </a:xfrm>
          <a:prstGeom prst="rect">
            <a:avLst/>
          </a:prstGeom>
          <a:noFill/>
        </p:spPr>
        <p:txBody>
          <a:bodyPr wrap="square">
            <a:spAutoFit/>
          </a:bodyPr>
          <a:lstStyle/>
          <a:p>
            <a:pPr algn="l"/>
            <a:r>
              <a:rPr sz="1100" b="1" i="0">
                <a:solidFill>
                  <a:srgbClr val="0D1B2A"/>
                </a:solidFill>
                <a:latin typeface="Calibri"/>
              </a:rPr>
              <a:t>Test 4</a:t>
            </a:r>
          </a:p>
        </p:txBody>
      </p:sp>
      <p:sp>
        <p:nvSpPr>
          <p:cNvPr id="33" name="TextBox 32"/>
          <p:cNvSpPr txBox="1"/>
          <p:nvPr/>
        </p:nvSpPr>
        <p:spPr>
          <a:xfrm>
            <a:off x="9601199" y="1554480"/>
            <a:ext cx="2011680" cy="310896"/>
          </a:xfrm>
          <a:prstGeom prst="rect">
            <a:avLst/>
          </a:prstGeom>
          <a:noFill/>
        </p:spPr>
        <p:txBody>
          <a:bodyPr wrap="square">
            <a:spAutoFit/>
          </a:bodyPr>
          <a:lstStyle/>
          <a:p>
            <a:pPr algn="l"/>
            <a:r>
              <a:rPr sz="1100" b="1" i="0">
                <a:solidFill>
                  <a:srgbClr val="0D1B2A"/>
                </a:solidFill>
                <a:latin typeface="Calibri"/>
              </a:rPr>
              <a:t>Combined</a:t>
            </a:r>
          </a:p>
        </p:txBody>
      </p:sp>
      <p:sp>
        <p:nvSpPr>
          <p:cNvPr id="34" name="TextBox 33"/>
          <p:cNvSpPr txBox="1"/>
          <p:nvPr/>
        </p:nvSpPr>
        <p:spPr>
          <a:xfrm>
            <a:off x="9052559" y="1993392"/>
            <a:ext cx="2560320" cy="274320"/>
          </a:xfrm>
          <a:prstGeom prst="rect">
            <a:avLst/>
          </a:prstGeom>
          <a:noFill/>
        </p:spPr>
        <p:txBody>
          <a:bodyPr wrap="square">
            <a:spAutoFit/>
          </a:bodyPr>
          <a:lstStyle/>
          <a:p>
            <a:pPr algn="l"/>
            <a:r>
              <a:rPr sz="1000" b="1" i="0">
                <a:solidFill>
                  <a:srgbClr val="FF6B35"/>
                </a:solidFill>
                <a:latin typeface="Calibri"/>
              </a:rPr>
              <a:t>Human Input:</a:t>
            </a:r>
          </a:p>
        </p:txBody>
      </p:sp>
      <p:sp>
        <p:nvSpPr>
          <p:cNvPr id="35" name="TextBox 34"/>
          <p:cNvSpPr txBox="1"/>
          <p:nvPr/>
        </p:nvSpPr>
        <p:spPr>
          <a:xfrm>
            <a:off x="9052559" y="2267712"/>
            <a:ext cx="2560320" cy="457200"/>
          </a:xfrm>
          <a:prstGeom prst="rect">
            <a:avLst/>
          </a:prstGeom>
          <a:noFill/>
        </p:spPr>
        <p:txBody>
          <a:bodyPr wrap="square">
            <a:spAutoFit/>
          </a:bodyPr>
          <a:lstStyle/>
          <a:p>
            <a:pPr algn="l"/>
            <a:r>
              <a:rPr sz="1000" b="0" i="1">
                <a:solidFill>
                  <a:srgbClr val="C8D6E5"/>
                </a:solidFill>
                <a:latin typeface="Calibri"/>
              </a:rPr>
              <a:t>add metrics + 350 words + Ironman context</a:t>
            </a:r>
          </a:p>
        </p:txBody>
      </p:sp>
      <p:sp>
        <p:nvSpPr>
          <p:cNvPr id="36" name="TextBox 35"/>
          <p:cNvSpPr txBox="1"/>
          <p:nvPr/>
        </p:nvSpPr>
        <p:spPr>
          <a:xfrm>
            <a:off x="9052559" y="2834640"/>
            <a:ext cx="2560320" cy="274320"/>
          </a:xfrm>
          <a:prstGeom prst="rect">
            <a:avLst/>
          </a:prstGeom>
          <a:noFill/>
        </p:spPr>
        <p:txBody>
          <a:bodyPr wrap="square">
            <a:spAutoFit/>
          </a:bodyPr>
          <a:lstStyle/>
          <a:p>
            <a:pPr algn="l"/>
            <a:r>
              <a:rPr sz="1000" b="1" i="0">
                <a:solidFill>
                  <a:srgbClr val="FF6B35"/>
                </a:solidFill>
                <a:latin typeface="Calibri"/>
              </a:rPr>
              <a:t>Result:</a:t>
            </a:r>
          </a:p>
        </p:txBody>
      </p:sp>
      <p:sp>
        <p:nvSpPr>
          <p:cNvPr id="37" name="TextBox 36"/>
          <p:cNvSpPr txBox="1"/>
          <p:nvPr/>
        </p:nvSpPr>
        <p:spPr>
          <a:xfrm>
            <a:off x="9052559" y="3127248"/>
            <a:ext cx="2560320" cy="1463040"/>
          </a:xfrm>
          <a:prstGeom prst="rect">
            <a:avLst/>
          </a:prstGeom>
          <a:noFill/>
        </p:spPr>
        <p:txBody>
          <a:bodyPr wrap="square">
            <a:spAutoFit/>
          </a:bodyPr>
          <a:lstStyle/>
          <a:p>
            <a:pPr algn="l"/>
            <a:r>
              <a:rPr sz="1000" b="0" i="0">
                <a:solidFill>
                  <a:srgbClr val="FFFFFF"/>
                </a:solidFill>
                <a:latin typeface="Calibri"/>
              </a:rPr>
              <a:t>Increased depth &amp; structure
Natural metric integration
Strong contextual anchoring</a:t>
            </a:r>
          </a:p>
        </p:txBody>
      </p:sp>
      <p:sp>
        <p:nvSpPr>
          <p:cNvPr id="38" name="Rectangle 37"/>
          <p:cNvSpPr/>
          <p:nvPr/>
        </p:nvSpPr>
        <p:spPr>
          <a:xfrm>
            <a:off x="320040" y="5925312"/>
            <a:ext cx="11521440" cy="685800"/>
          </a:xfrm>
          <a:prstGeom prst="rect">
            <a:avLst/>
          </a:prstGeom>
          <a:solidFill>
            <a:srgbClr val="003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48640" y="5989320"/>
            <a:ext cx="10972800" cy="548640"/>
          </a:xfrm>
          <a:prstGeom prst="rect">
            <a:avLst/>
          </a:prstGeom>
          <a:noFill/>
        </p:spPr>
        <p:txBody>
          <a:bodyPr wrap="square">
            <a:spAutoFit/>
          </a:bodyPr>
          <a:lstStyle/>
          <a:p>
            <a:pPr algn="ctr"/>
            <a:r>
              <a:rPr sz="1300" b="1" i="0">
                <a:solidFill>
                  <a:srgbClr val="00E596"/>
                </a:solidFill>
                <a:latin typeface="Calibri"/>
              </a:rPr>
              <a:t>Key Finding: Context injection is the most powerful lever for uniqueness. Human iteration is essential — not optional.</a:t>
            </a:r>
          </a:p>
        </p:txBody>
      </p:sp>
      <p:sp>
        <p:nvSpPr>
          <p:cNvPr id="40" name="TextBox 39"/>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6B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06  —  TECHNICAL IMPLEMENTATION</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Architecture &amp; Key Technologies</a:t>
            </a:r>
          </a:p>
        </p:txBody>
      </p:sp>
      <p:sp>
        <p:nvSpPr>
          <p:cNvPr id="6" name="Rectangle 5"/>
          <p:cNvSpPr/>
          <p:nvPr/>
        </p:nvSpPr>
        <p:spPr>
          <a:xfrm>
            <a:off x="365760" y="1508760"/>
            <a:ext cx="3566160" cy="274320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08760"/>
            <a:ext cx="3566160" cy="34747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536192"/>
            <a:ext cx="3337560" cy="292608"/>
          </a:xfrm>
          <a:prstGeom prst="rect">
            <a:avLst/>
          </a:prstGeom>
          <a:noFill/>
        </p:spPr>
        <p:txBody>
          <a:bodyPr wrap="square">
            <a:spAutoFit/>
          </a:bodyPr>
          <a:lstStyle/>
          <a:p>
            <a:pPr algn="l"/>
            <a:r>
              <a:rPr sz="1100" b="1" i="0">
                <a:solidFill>
                  <a:srgbClr val="0D1B2A"/>
                </a:solidFill>
                <a:latin typeface="Calibri"/>
              </a:rPr>
              <a:t>llm_integration.py</a:t>
            </a:r>
          </a:p>
        </p:txBody>
      </p:sp>
      <p:sp>
        <p:nvSpPr>
          <p:cNvPr id="9" name="TextBox 8"/>
          <p:cNvSpPr txBox="1"/>
          <p:nvPr/>
        </p:nvSpPr>
        <p:spPr>
          <a:xfrm>
            <a:off x="475488" y="1938528"/>
            <a:ext cx="3337560" cy="347472"/>
          </a:xfrm>
          <a:prstGeom prst="rect">
            <a:avLst/>
          </a:prstGeom>
          <a:noFill/>
        </p:spPr>
        <p:txBody>
          <a:bodyPr wrap="square">
            <a:spAutoFit/>
          </a:bodyPr>
          <a:lstStyle/>
          <a:p>
            <a:pPr algn="l"/>
            <a:r>
              <a:rPr sz="1100" b="0" i="0">
                <a:solidFill>
                  <a:srgbClr val="FFFFFF"/>
                </a:solidFill>
                <a:latin typeface="Calibri"/>
              </a:rPr>
              <a:t>• OpenAI GPT-4o-mini</a:t>
            </a:r>
          </a:p>
        </p:txBody>
      </p:sp>
      <p:sp>
        <p:nvSpPr>
          <p:cNvPr id="10" name="TextBox 9"/>
          <p:cNvSpPr txBox="1"/>
          <p:nvPr/>
        </p:nvSpPr>
        <p:spPr>
          <a:xfrm>
            <a:off x="475488" y="2322576"/>
            <a:ext cx="3337560" cy="347472"/>
          </a:xfrm>
          <a:prstGeom prst="rect">
            <a:avLst/>
          </a:prstGeom>
          <a:noFill/>
        </p:spPr>
        <p:txBody>
          <a:bodyPr wrap="square">
            <a:spAutoFit/>
          </a:bodyPr>
          <a:lstStyle/>
          <a:p>
            <a:pPr algn="l"/>
            <a:r>
              <a:rPr sz="1100" b="0" i="0">
                <a:solidFill>
                  <a:srgbClr val="FFFFFF"/>
                </a:solidFill>
                <a:latin typeface="Calibri"/>
              </a:rPr>
              <a:t>• Anthropic Claude Haiku</a:t>
            </a:r>
          </a:p>
        </p:txBody>
      </p:sp>
      <p:sp>
        <p:nvSpPr>
          <p:cNvPr id="11" name="TextBox 10"/>
          <p:cNvSpPr txBox="1"/>
          <p:nvPr/>
        </p:nvSpPr>
        <p:spPr>
          <a:xfrm>
            <a:off x="475488" y="2706624"/>
            <a:ext cx="3337560" cy="347472"/>
          </a:xfrm>
          <a:prstGeom prst="rect">
            <a:avLst/>
          </a:prstGeom>
          <a:noFill/>
        </p:spPr>
        <p:txBody>
          <a:bodyPr wrap="square">
            <a:spAutoFit/>
          </a:bodyPr>
          <a:lstStyle/>
          <a:p>
            <a:pPr algn="l"/>
            <a:r>
              <a:rPr sz="1100" b="0" i="0">
                <a:solidFill>
                  <a:srgbClr val="FFFFFF"/>
                </a:solidFill>
                <a:latin typeface="Calibri"/>
              </a:rPr>
              <a:t>• Auto-provider detection</a:t>
            </a:r>
          </a:p>
        </p:txBody>
      </p:sp>
      <p:sp>
        <p:nvSpPr>
          <p:cNvPr id="12" name="TextBox 11"/>
          <p:cNvSpPr txBox="1"/>
          <p:nvPr/>
        </p:nvSpPr>
        <p:spPr>
          <a:xfrm>
            <a:off x="475488" y="3090672"/>
            <a:ext cx="3337560" cy="347472"/>
          </a:xfrm>
          <a:prstGeom prst="rect">
            <a:avLst/>
          </a:prstGeom>
          <a:noFill/>
        </p:spPr>
        <p:txBody>
          <a:bodyPr wrap="square">
            <a:spAutoFit/>
          </a:bodyPr>
          <a:lstStyle/>
          <a:p>
            <a:pPr algn="l"/>
            <a:r>
              <a:rPr sz="1100" b="0" i="0">
                <a:solidFill>
                  <a:srgbClr val="FFFFFF"/>
                </a:solidFill>
                <a:latin typeface="Calibri"/>
              </a:rPr>
              <a:t>• Exponential backoff</a:t>
            </a:r>
          </a:p>
        </p:txBody>
      </p:sp>
      <p:sp>
        <p:nvSpPr>
          <p:cNvPr id="13" name="TextBox 12"/>
          <p:cNvSpPr txBox="1"/>
          <p:nvPr/>
        </p:nvSpPr>
        <p:spPr>
          <a:xfrm>
            <a:off x="475488" y="3474720"/>
            <a:ext cx="3337560" cy="347472"/>
          </a:xfrm>
          <a:prstGeom prst="rect">
            <a:avLst/>
          </a:prstGeom>
          <a:noFill/>
        </p:spPr>
        <p:txBody>
          <a:bodyPr wrap="square">
            <a:spAutoFit/>
          </a:bodyPr>
          <a:lstStyle/>
          <a:p>
            <a:pPr algn="l"/>
            <a:r>
              <a:rPr sz="1100" b="0" i="0">
                <a:solidFill>
                  <a:srgbClr val="FFFFFF"/>
                </a:solidFill>
                <a:latin typeface="Calibri"/>
              </a:rPr>
              <a:t>• Token usage tracking</a:t>
            </a:r>
          </a:p>
        </p:txBody>
      </p:sp>
      <p:sp>
        <p:nvSpPr>
          <p:cNvPr id="14" name="Rectangle 13"/>
          <p:cNvSpPr/>
          <p:nvPr/>
        </p:nvSpPr>
        <p:spPr>
          <a:xfrm>
            <a:off x="4206240" y="1508760"/>
            <a:ext cx="3566160" cy="274320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40" y="1508760"/>
            <a:ext cx="3566160" cy="34747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15968" y="1536192"/>
            <a:ext cx="3337560" cy="292608"/>
          </a:xfrm>
          <a:prstGeom prst="rect">
            <a:avLst/>
          </a:prstGeom>
          <a:noFill/>
        </p:spPr>
        <p:txBody>
          <a:bodyPr wrap="square">
            <a:spAutoFit/>
          </a:bodyPr>
          <a:lstStyle/>
          <a:p>
            <a:pPr algn="l"/>
            <a:r>
              <a:rPr sz="1100" b="1" i="0">
                <a:solidFill>
                  <a:srgbClr val="0D1B2A"/>
                </a:solidFill>
                <a:latin typeface="Calibri"/>
              </a:rPr>
              <a:t>document_processor.py</a:t>
            </a:r>
          </a:p>
        </p:txBody>
      </p:sp>
      <p:sp>
        <p:nvSpPr>
          <p:cNvPr id="17" name="TextBox 16"/>
          <p:cNvSpPr txBox="1"/>
          <p:nvPr/>
        </p:nvSpPr>
        <p:spPr>
          <a:xfrm>
            <a:off x="4315968" y="1938528"/>
            <a:ext cx="3337560" cy="347472"/>
          </a:xfrm>
          <a:prstGeom prst="rect">
            <a:avLst/>
          </a:prstGeom>
          <a:noFill/>
        </p:spPr>
        <p:txBody>
          <a:bodyPr wrap="square">
            <a:spAutoFit/>
          </a:bodyPr>
          <a:lstStyle/>
          <a:p>
            <a:pPr algn="l"/>
            <a:r>
              <a:rPr sz="1100" b="0" i="0">
                <a:solidFill>
                  <a:srgbClr val="FFFFFF"/>
                </a:solidFill>
                <a:latin typeface="Calibri"/>
              </a:rPr>
              <a:t>• Markdown parsing</a:t>
            </a:r>
          </a:p>
        </p:txBody>
      </p:sp>
      <p:sp>
        <p:nvSpPr>
          <p:cNvPr id="18" name="TextBox 17"/>
          <p:cNvSpPr txBox="1"/>
          <p:nvPr/>
        </p:nvSpPr>
        <p:spPr>
          <a:xfrm>
            <a:off x="4315968" y="2322576"/>
            <a:ext cx="3337560" cy="347472"/>
          </a:xfrm>
          <a:prstGeom prst="rect">
            <a:avLst/>
          </a:prstGeom>
          <a:noFill/>
        </p:spPr>
        <p:txBody>
          <a:bodyPr wrap="square">
            <a:spAutoFit/>
          </a:bodyPr>
          <a:lstStyle/>
          <a:p>
            <a:pPr algn="l"/>
            <a:r>
              <a:rPr sz="1100" b="0" i="0">
                <a:solidFill>
                  <a:srgbClr val="FFFFFF"/>
                </a:solidFill>
                <a:latin typeface="Calibri"/>
              </a:rPr>
              <a:t>• Text extraction &amp; cleaning</a:t>
            </a:r>
          </a:p>
        </p:txBody>
      </p:sp>
      <p:sp>
        <p:nvSpPr>
          <p:cNvPr id="19" name="TextBox 18"/>
          <p:cNvSpPr txBox="1"/>
          <p:nvPr/>
        </p:nvSpPr>
        <p:spPr>
          <a:xfrm>
            <a:off x="4315968" y="2706624"/>
            <a:ext cx="3337560" cy="347472"/>
          </a:xfrm>
          <a:prstGeom prst="rect">
            <a:avLst/>
          </a:prstGeom>
          <a:noFill/>
        </p:spPr>
        <p:txBody>
          <a:bodyPr wrap="square">
            <a:spAutoFit/>
          </a:bodyPr>
          <a:lstStyle/>
          <a:p>
            <a:pPr algn="l"/>
            <a:r>
              <a:rPr sz="1100" b="0" i="0">
                <a:solidFill>
                  <a:srgbClr val="FFFFFF"/>
                </a:solidFill>
                <a:latin typeface="Calibri"/>
              </a:rPr>
              <a:t>• Knowledge base loading</a:t>
            </a:r>
          </a:p>
        </p:txBody>
      </p:sp>
      <p:sp>
        <p:nvSpPr>
          <p:cNvPr id="20" name="TextBox 19"/>
          <p:cNvSpPr txBox="1"/>
          <p:nvPr/>
        </p:nvSpPr>
        <p:spPr>
          <a:xfrm>
            <a:off x="4315968" y="3090672"/>
            <a:ext cx="3337560" cy="347472"/>
          </a:xfrm>
          <a:prstGeom prst="rect">
            <a:avLst/>
          </a:prstGeom>
          <a:noFill/>
        </p:spPr>
        <p:txBody>
          <a:bodyPr wrap="square">
            <a:spAutoFit/>
          </a:bodyPr>
          <a:lstStyle/>
          <a:p>
            <a:pPr algn="l"/>
            <a:r>
              <a:rPr sz="1100" b="0" i="0">
                <a:solidFill>
                  <a:srgbClr val="FFFFFF"/>
                </a:solidFill>
                <a:latin typeface="Calibri"/>
              </a:rPr>
              <a:t>• Structured context dict</a:t>
            </a:r>
          </a:p>
        </p:txBody>
      </p:sp>
      <p:sp>
        <p:nvSpPr>
          <p:cNvPr id="21" name="Rectangle 20"/>
          <p:cNvSpPr/>
          <p:nvPr/>
        </p:nvSpPr>
        <p:spPr>
          <a:xfrm>
            <a:off x="8046720" y="1508760"/>
            <a:ext cx="3566160" cy="274320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46720" y="1508760"/>
            <a:ext cx="356616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56448" y="1536192"/>
            <a:ext cx="3337560" cy="292608"/>
          </a:xfrm>
          <a:prstGeom prst="rect">
            <a:avLst/>
          </a:prstGeom>
          <a:noFill/>
        </p:spPr>
        <p:txBody>
          <a:bodyPr wrap="square">
            <a:spAutoFit/>
          </a:bodyPr>
          <a:lstStyle/>
          <a:p>
            <a:pPr algn="l"/>
            <a:r>
              <a:rPr sz="1100" b="1" i="0">
                <a:solidFill>
                  <a:srgbClr val="0D1B2A"/>
                </a:solidFill>
                <a:latin typeface="Calibri"/>
              </a:rPr>
              <a:t>knowledge_base.py</a:t>
            </a:r>
          </a:p>
        </p:txBody>
      </p:sp>
      <p:sp>
        <p:nvSpPr>
          <p:cNvPr id="24" name="TextBox 23"/>
          <p:cNvSpPr txBox="1"/>
          <p:nvPr/>
        </p:nvSpPr>
        <p:spPr>
          <a:xfrm>
            <a:off x="8156448" y="1938528"/>
            <a:ext cx="3337560" cy="347472"/>
          </a:xfrm>
          <a:prstGeom prst="rect">
            <a:avLst/>
          </a:prstGeom>
          <a:noFill/>
        </p:spPr>
        <p:txBody>
          <a:bodyPr wrap="square">
            <a:spAutoFit/>
          </a:bodyPr>
          <a:lstStyle/>
          <a:p>
            <a:pPr algn="l"/>
            <a:r>
              <a:rPr sz="1100" b="0" i="0">
                <a:solidFill>
                  <a:srgbClr val="FFFFFF"/>
                </a:solidFill>
                <a:latin typeface="Calibri"/>
              </a:rPr>
              <a:t>• Primary KB manager</a:t>
            </a:r>
          </a:p>
        </p:txBody>
      </p:sp>
      <p:sp>
        <p:nvSpPr>
          <p:cNvPr id="25" name="TextBox 24"/>
          <p:cNvSpPr txBox="1"/>
          <p:nvPr/>
        </p:nvSpPr>
        <p:spPr>
          <a:xfrm>
            <a:off x="8156448" y="2322576"/>
            <a:ext cx="3337560" cy="347472"/>
          </a:xfrm>
          <a:prstGeom prst="rect">
            <a:avLst/>
          </a:prstGeom>
          <a:noFill/>
        </p:spPr>
        <p:txBody>
          <a:bodyPr wrap="square">
            <a:spAutoFit/>
          </a:bodyPr>
          <a:lstStyle/>
          <a:p>
            <a:pPr algn="l"/>
            <a:r>
              <a:rPr sz="1100" b="0" i="0">
                <a:solidFill>
                  <a:srgbClr val="FFFFFF"/>
                </a:solidFill>
                <a:latin typeface="Calibri"/>
              </a:rPr>
              <a:t>• Secondary KB manager</a:t>
            </a:r>
          </a:p>
        </p:txBody>
      </p:sp>
      <p:sp>
        <p:nvSpPr>
          <p:cNvPr id="26" name="TextBox 25"/>
          <p:cNvSpPr txBox="1"/>
          <p:nvPr/>
        </p:nvSpPr>
        <p:spPr>
          <a:xfrm>
            <a:off x="8156448" y="2706624"/>
            <a:ext cx="3337560" cy="347472"/>
          </a:xfrm>
          <a:prstGeom prst="rect">
            <a:avLst/>
          </a:prstGeom>
          <a:noFill/>
        </p:spPr>
        <p:txBody>
          <a:bodyPr wrap="square">
            <a:spAutoFit/>
          </a:bodyPr>
          <a:lstStyle/>
          <a:p>
            <a:pPr algn="l"/>
            <a:r>
              <a:rPr sz="1100" b="0" i="0">
                <a:solidFill>
                  <a:srgbClr val="FFFFFF"/>
                </a:solidFill>
                <a:latin typeface="Calibri"/>
              </a:rPr>
              <a:t>• Unified context builder</a:t>
            </a:r>
          </a:p>
        </p:txBody>
      </p:sp>
      <p:sp>
        <p:nvSpPr>
          <p:cNvPr id="27" name="TextBox 26"/>
          <p:cNvSpPr txBox="1"/>
          <p:nvPr/>
        </p:nvSpPr>
        <p:spPr>
          <a:xfrm>
            <a:off x="8156448" y="3090672"/>
            <a:ext cx="3337560" cy="347472"/>
          </a:xfrm>
          <a:prstGeom prst="rect">
            <a:avLst/>
          </a:prstGeom>
          <a:noFill/>
        </p:spPr>
        <p:txBody>
          <a:bodyPr wrap="square">
            <a:spAutoFit/>
          </a:bodyPr>
          <a:lstStyle/>
          <a:p>
            <a:pPr algn="l"/>
            <a:r>
              <a:rPr sz="1100" b="0" i="0">
                <a:solidFill>
                  <a:srgbClr val="FFFFFF"/>
                </a:solidFill>
                <a:latin typeface="Calibri"/>
              </a:rPr>
              <a:t>• Audience-aware filtering</a:t>
            </a:r>
          </a:p>
        </p:txBody>
      </p:sp>
      <p:sp>
        <p:nvSpPr>
          <p:cNvPr id="28" name="Rectangle 27"/>
          <p:cNvSpPr/>
          <p:nvPr/>
        </p:nvSpPr>
        <p:spPr>
          <a:xfrm>
            <a:off x="365760" y="4434840"/>
            <a:ext cx="3566160" cy="21945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65760" y="4434840"/>
            <a:ext cx="356616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8" y="4462272"/>
            <a:ext cx="3337560" cy="292608"/>
          </a:xfrm>
          <a:prstGeom prst="rect">
            <a:avLst/>
          </a:prstGeom>
          <a:noFill/>
        </p:spPr>
        <p:txBody>
          <a:bodyPr wrap="square">
            <a:spAutoFit/>
          </a:bodyPr>
          <a:lstStyle/>
          <a:p>
            <a:pPr algn="l"/>
            <a:r>
              <a:rPr sz="1100" b="1" i="0">
                <a:solidFill>
                  <a:srgbClr val="0D1B2A"/>
                </a:solidFill>
                <a:latin typeface="Calibri"/>
              </a:rPr>
              <a:t>prompt_templates.py</a:t>
            </a:r>
          </a:p>
        </p:txBody>
      </p:sp>
      <p:sp>
        <p:nvSpPr>
          <p:cNvPr id="31" name="TextBox 30"/>
          <p:cNvSpPr txBox="1"/>
          <p:nvPr/>
        </p:nvSpPr>
        <p:spPr>
          <a:xfrm>
            <a:off x="475488" y="4864608"/>
            <a:ext cx="3337560" cy="301752"/>
          </a:xfrm>
          <a:prstGeom prst="rect">
            <a:avLst/>
          </a:prstGeom>
          <a:noFill/>
        </p:spPr>
        <p:txBody>
          <a:bodyPr wrap="square">
            <a:spAutoFit/>
          </a:bodyPr>
          <a:lstStyle/>
          <a:p>
            <a:pPr algn="l"/>
            <a:r>
              <a:rPr sz="1000" b="0" i="0">
                <a:solidFill>
                  <a:srgbClr val="FFFFFF"/>
                </a:solidFill>
                <a:latin typeface="Calibri"/>
              </a:rPr>
              <a:t>• PromptContext dataclass</a:t>
            </a:r>
          </a:p>
        </p:txBody>
      </p:sp>
      <p:sp>
        <p:nvSpPr>
          <p:cNvPr id="32" name="TextBox 31"/>
          <p:cNvSpPr txBox="1"/>
          <p:nvPr/>
        </p:nvSpPr>
        <p:spPr>
          <a:xfrm>
            <a:off x="475488" y="5193792"/>
            <a:ext cx="3337560" cy="301752"/>
          </a:xfrm>
          <a:prstGeom prst="rect">
            <a:avLst/>
          </a:prstGeom>
          <a:noFill/>
        </p:spPr>
        <p:txBody>
          <a:bodyPr wrap="square">
            <a:spAutoFit/>
          </a:bodyPr>
          <a:lstStyle/>
          <a:p>
            <a:pPr algn="l"/>
            <a:r>
              <a:rPr sz="1000" b="0" i="0">
                <a:solidFill>
                  <a:srgbClr val="FFFFFF"/>
                </a:solidFill>
                <a:latin typeface="Calibri"/>
              </a:rPr>
              <a:t>• Channel-specific builders</a:t>
            </a:r>
          </a:p>
        </p:txBody>
      </p:sp>
      <p:sp>
        <p:nvSpPr>
          <p:cNvPr id="33" name="TextBox 32"/>
          <p:cNvSpPr txBox="1"/>
          <p:nvPr/>
        </p:nvSpPr>
        <p:spPr>
          <a:xfrm>
            <a:off x="475488" y="5522976"/>
            <a:ext cx="3337560" cy="301752"/>
          </a:xfrm>
          <a:prstGeom prst="rect">
            <a:avLst/>
          </a:prstGeom>
          <a:noFill/>
        </p:spPr>
        <p:txBody>
          <a:bodyPr wrap="square">
            <a:spAutoFit/>
          </a:bodyPr>
          <a:lstStyle/>
          <a:p>
            <a:pPr algn="l"/>
            <a:r>
              <a:rPr sz="1000" b="0" i="0">
                <a:solidFill>
                  <a:srgbClr val="FFFFFF"/>
                </a:solidFill>
                <a:latin typeface="Calibri"/>
              </a:rPr>
              <a:t>• Brief → Publish chain</a:t>
            </a:r>
          </a:p>
        </p:txBody>
      </p:sp>
      <p:sp>
        <p:nvSpPr>
          <p:cNvPr id="34" name="TextBox 33"/>
          <p:cNvSpPr txBox="1"/>
          <p:nvPr/>
        </p:nvSpPr>
        <p:spPr>
          <a:xfrm>
            <a:off x="475488" y="5852160"/>
            <a:ext cx="3337560" cy="301752"/>
          </a:xfrm>
          <a:prstGeom prst="rect">
            <a:avLst/>
          </a:prstGeom>
          <a:noFill/>
        </p:spPr>
        <p:txBody>
          <a:bodyPr wrap="square">
            <a:spAutoFit/>
          </a:bodyPr>
          <a:lstStyle/>
          <a:p>
            <a:pPr algn="l"/>
            <a:r>
              <a:rPr sz="1000" b="0" i="0">
                <a:solidFill>
                  <a:srgbClr val="FFFFFF"/>
                </a:solidFill>
                <a:latin typeface="Calibri"/>
              </a:rPr>
              <a:t>• Generic comparison baseline</a:t>
            </a:r>
          </a:p>
        </p:txBody>
      </p:sp>
      <p:sp>
        <p:nvSpPr>
          <p:cNvPr id="35" name="TextBox 34"/>
          <p:cNvSpPr txBox="1"/>
          <p:nvPr/>
        </p:nvSpPr>
        <p:spPr>
          <a:xfrm>
            <a:off x="475488" y="6181344"/>
            <a:ext cx="3337560" cy="301752"/>
          </a:xfrm>
          <a:prstGeom prst="rect">
            <a:avLst/>
          </a:prstGeom>
          <a:noFill/>
        </p:spPr>
        <p:txBody>
          <a:bodyPr wrap="square">
            <a:spAutoFit/>
          </a:bodyPr>
          <a:lstStyle/>
          <a:p>
            <a:pPr algn="l"/>
            <a:r>
              <a:rPr sz="1000" b="0" i="0">
                <a:solidFill>
                  <a:srgbClr val="FFFFFF"/>
                </a:solidFill>
                <a:latin typeface="Calibri"/>
              </a:rPr>
              <a:t>• NO_EM_DASH / anti-AI rules</a:t>
            </a:r>
          </a:p>
        </p:txBody>
      </p:sp>
      <p:sp>
        <p:nvSpPr>
          <p:cNvPr id="36" name="Rectangle 35"/>
          <p:cNvSpPr/>
          <p:nvPr/>
        </p:nvSpPr>
        <p:spPr>
          <a:xfrm>
            <a:off x="4206240" y="4434840"/>
            <a:ext cx="3566160" cy="21945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206240" y="4434840"/>
            <a:ext cx="3566160" cy="347472"/>
          </a:xfrm>
          <a:prstGeom prst="rect">
            <a:avLst/>
          </a:prstGeom>
          <a:solidFill>
            <a:srgbClr val="CC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315968" y="4462272"/>
            <a:ext cx="3337560" cy="292608"/>
          </a:xfrm>
          <a:prstGeom prst="rect">
            <a:avLst/>
          </a:prstGeom>
          <a:noFill/>
        </p:spPr>
        <p:txBody>
          <a:bodyPr wrap="square">
            <a:spAutoFit/>
          </a:bodyPr>
          <a:lstStyle/>
          <a:p>
            <a:pPr algn="l"/>
            <a:r>
              <a:rPr sz="1100" b="1" i="0">
                <a:solidFill>
                  <a:srgbClr val="0D1B2A"/>
                </a:solidFill>
                <a:latin typeface="Calibri"/>
              </a:rPr>
              <a:t>content_pipeline.py</a:t>
            </a:r>
          </a:p>
        </p:txBody>
      </p:sp>
      <p:sp>
        <p:nvSpPr>
          <p:cNvPr id="39" name="TextBox 38"/>
          <p:cNvSpPr txBox="1"/>
          <p:nvPr/>
        </p:nvSpPr>
        <p:spPr>
          <a:xfrm>
            <a:off x="4315968" y="4864608"/>
            <a:ext cx="3337560" cy="301752"/>
          </a:xfrm>
          <a:prstGeom prst="rect">
            <a:avLst/>
          </a:prstGeom>
          <a:noFill/>
        </p:spPr>
        <p:txBody>
          <a:bodyPr wrap="square">
            <a:spAutoFit/>
          </a:bodyPr>
          <a:lstStyle/>
          <a:p>
            <a:pPr algn="l"/>
            <a:r>
              <a:rPr sz="1000" b="0" i="0">
                <a:solidFill>
                  <a:srgbClr val="FFFFFF"/>
                </a:solidFill>
                <a:latin typeface="Calibri"/>
              </a:rPr>
              <a:t>• Orchestrates all 5 stages</a:t>
            </a:r>
          </a:p>
        </p:txBody>
      </p:sp>
      <p:sp>
        <p:nvSpPr>
          <p:cNvPr id="40" name="TextBox 39"/>
          <p:cNvSpPr txBox="1"/>
          <p:nvPr/>
        </p:nvSpPr>
        <p:spPr>
          <a:xfrm>
            <a:off x="4315968" y="5193792"/>
            <a:ext cx="3337560" cy="301752"/>
          </a:xfrm>
          <a:prstGeom prst="rect">
            <a:avLst/>
          </a:prstGeom>
          <a:noFill/>
        </p:spPr>
        <p:txBody>
          <a:bodyPr wrap="square">
            <a:spAutoFit/>
          </a:bodyPr>
          <a:lstStyle/>
          <a:p>
            <a:pPr algn="l"/>
            <a:r>
              <a:rPr sz="1000" b="0" i="0">
                <a:solidFill>
                  <a:srgbClr val="FFFFFF"/>
                </a:solidFill>
                <a:latin typeface="Calibri"/>
              </a:rPr>
              <a:t>• Batch mode support</a:t>
            </a:r>
          </a:p>
        </p:txBody>
      </p:sp>
      <p:sp>
        <p:nvSpPr>
          <p:cNvPr id="41" name="TextBox 40"/>
          <p:cNvSpPr txBox="1"/>
          <p:nvPr/>
        </p:nvSpPr>
        <p:spPr>
          <a:xfrm>
            <a:off x="4315968" y="5522976"/>
            <a:ext cx="3337560" cy="301752"/>
          </a:xfrm>
          <a:prstGeom prst="rect">
            <a:avLst/>
          </a:prstGeom>
          <a:noFill/>
        </p:spPr>
        <p:txBody>
          <a:bodyPr wrap="square">
            <a:spAutoFit/>
          </a:bodyPr>
          <a:lstStyle/>
          <a:p>
            <a:pPr algn="l"/>
            <a:r>
              <a:rPr sz="1000" b="0" i="0">
                <a:solidFill>
                  <a:srgbClr val="FFFFFF"/>
                </a:solidFill>
                <a:latin typeface="Calibri"/>
              </a:rPr>
              <a:t>• Uniqueness comparison runner</a:t>
            </a:r>
          </a:p>
        </p:txBody>
      </p:sp>
      <p:sp>
        <p:nvSpPr>
          <p:cNvPr id="42" name="TextBox 41"/>
          <p:cNvSpPr txBox="1"/>
          <p:nvPr/>
        </p:nvSpPr>
        <p:spPr>
          <a:xfrm>
            <a:off x="4315968" y="5852160"/>
            <a:ext cx="3337560" cy="301752"/>
          </a:xfrm>
          <a:prstGeom prst="rect">
            <a:avLst/>
          </a:prstGeom>
          <a:noFill/>
        </p:spPr>
        <p:txBody>
          <a:bodyPr wrap="square">
            <a:spAutoFit/>
          </a:bodyPr>
          <a:lstStyle/>
          <a:p>
            <a:pPr algn="l"/>
            <a:r>
              <a:rPr sz="1000" b="0" i="0">
                <a:solidFill>
                  <a:srgbClr val="FFFFFF"/>
                </a:solidFill>
                <a:latin typeface="Calibri"/>
              </a:rPr>
              <a:t>• OutputManager saves files</a:t>
            </a:r>
          </a:p>
        </p:txBody>
      </p:sp>
      <p:sp>
        <p:nvSpPr>
          <p:cNvPr id="43" name="Rectangle 42"/>
          <p:cNvSpPr/>
          <p:nvPr/>
        </p:nvSpPr>
        <p:spPr>
          <a:xfrm>
            <a:off x="8046720" y="4434840"/>
            <a:ext cx="3566160" cy="21945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046720" y="4434840"/>
            <a:ext cx="3566160" cy="34747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156448" y="4462272"/>
            <a:ext cx="3337560" cy="292608"/>
          </a:xfrm>
          <a:prstGeom prst="rect">
            <a:avLst/>
          </a:prstGeom>
          <a:noFill/>
        </p:spPr>
        <p:txBody>
          <a:bodyPr wrap="square">
            <a:spAutoFit/>
          </a:bodyPr>
          <a:lstStyle/>
          <a:p>
            <a:pPr algn="l"/>
            <a:r>
              <a:rPr sz="1100" b="1" i="0">
                <a:solidFill>
                  <a:srgbClr val="0D1B2A"/>
                </a:solidFill>
                <a:latin typeface="Calibri"/>
              </a:rPr>
              <a:t>app.py (Gradio UI)</a:t>
            </a:r>
          </a:p>
        </p:txBody>
      </p:sp>
      <p:sp>
        <p:nvSpPr>
          <p:cNvPr id="46" name="TextBox 45"/>
          <p:cNvSpPr txBox="1"/>
          <p:nvPr/>
        </p:nvSpPr>
        <p:spPr>
          <a:xfrm>
            <a:off x="8156448" y="4864608"/>
            <a:ext cx="3337560" cy="301752"/>
          </a:xfrm>
          <a:prstGeom prst="rect">
            <a:avLst/>
          </a:prstGeom>
          <a:noFill/>
        </p:spPr>
        <p:txBody>
          <a:bodyPr wrap="square">
            <a:spAutoFit/>
          </a:bodyPr>
          <a:lstStyle/>
          <a:p>
            <a:pPr algn="l"/>
            <a:r>
              <a:rPr sz="1000" b="0" i="0">
                <a:solidFill>
                  <a:srgbClr val="FFFFFF"/>
                </a:solidFill>
                <a:latin typeface="Calibri"/>
              </a:rPr>
              <a:t>• Web interface</a:t>
            </a:r>
          </a:p>
        </p:txBody>
      </p:sp>
      <p:sp>
        <p:nvSpPr>
          <p:cNvPr id="47" name="TextBox 46"/>
          <p:cNvSpPr txBox="1"/>
          <p:nvPr/>
        </p:nvSpPr>
        <p:spPr>
          <a:xfrm>
            <a:off x="8156448" y="5193792"/>
            <a:ext cx="3337560" cy="301752"/>
          </a:xfrm>
          <a:prstGeom prst="rect">
            <a:avLst/>
          </a:prstGeom>
          <a:noFill/>
        </p:spPr>
        <p:txBody>
          <a:bodyPr wrap="square">
            <a:spAutoFit/>
          </a:bodyPr>
          <a:lstStyle/>
          <a:p>
            <a:pPr algn="l"/>
            <a:r>
              <a:rPr sz="1000" b="0" i="0">
                <a:solidFill>
                  <a:srgbClr val="FFFFFF"/>
                </a:solidFill>
                <a:latin typeface="Calibri"/>
              </a:rPr>
              <a:t>• gr.State JSON pipeline</a:t>
            </a:r>
          </a:p>
        </p:txBody>
      </p:sp>
      <p:sp>
        <p:nvSpPr>
          <p:cNvPr id="48" name="TextBox 47"/>
          <p:cNvSpPr txBox="1"/>
          <p:nvPr/>
        </p:nvSpPr>
        <p:spPr>
          <a:xfrm>
            <a:off x="8156448" y="5522976"/>
            <a:ext cx="3337560" cy="301752"/>
          </a:xfrm>
          <a:prstGeom prst="rect">
            <a:avLst/>
          </a:prstGeom>
          <a:noFill/>
        </p:spPr>
        <p:txBody>
          <a:bodyPr wrap="square">
            <a:spAutoFit/>
          </a:bodyPr>
          <a:lstStyle/>
          <a:p>
            <a:pPr algn="l"/>
            <a:r>
              <a:rPr sz="1000" b="0" i="0">
                <a:solidFill>
                  <a:srgbClr val="FFFFFF"/>
                </a:solidFill>
                <a:latin typeface="Calibri"/>
              </a:rPr>
              <a:t>• Live streaming output</a:t>
            </a:r>
          </a:p>
        </p:txBody>
      </p:sp>
      <p:sp>
        <p:nvSpPr>
          <p:cNvPr id="49" name="TextBox 48"/>
          <p:cNvSpPr txBox="1"/>
          <p:nvPr/>
        </p:nvSpPr>
        <p:spPr>
          <a:xfrm>
            <a:off x="8156448" y="5852160"/>
            <a:ext cx="3337560" cy="301752"/>
          </a:xfrm>
          <a:prstGeom prst="rect">
            <a:avLst/>
          </a:prstGeom>
          <a:noFill/>
        </p:spPr>
        <p:txBody>
          <a:bodyPr wrap="square">
            <a:spAutoFit/>
          </a:bodyPr>
          <a:lstStyle/>
          <a:p>
            <a:pPr algn="l"/>
            <a:r>
              <a:rPr sz="1000" b="0" i="0">
                <a:solidFill>
                  <a:srgbClr val="FFFFFF"/>
                </a:solidFill>
                <a:latin typeface="Calibri"/>
              </a:rPr>
              <a:t>• Channel / audience selector</a:t>
            </a:r>
          </a:p>
        </p:txBody>
      </p:sp>
      <p:sp>
        <p:nvSpPr>
          <p:cNvPr id="50" name="TextBox 49"/>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06B  —  PROMPT ENGINEERING</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Dynamic Prompt Construction</a:t>
            </a:r>
          </a:p>
        </p:txBody>
      </p:sp>
      <p:sp>
        <p:nvSpPr>
          <p:cNvPr id="6" name="Rectangle 5"/>
          <p:cNvSpPr/>
          <p:nvPr/>
        </p:nvSpPr>
        <p:spPr>
          <a:xfrm>
            <a:off x="365760" y="1508760"/>
            <a:ext cx="2651760" cy="31089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08760"/>
            <a:ext cx="2651760" cy="3657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536192"/>
            <a:ext cx="2423160" cy="310896"/>
          </a:xfrm>
          <a:prstGeom prst="rect">
            <a:avLst/>
          </a:prstGeom>
          <a:noFill/>
        </p:spPr>
        <p:txBody>
          <a:bodyPr wrap="square">
            <a:spAutoFit/>
          </a:bodyPr>
          <a:lstStyle/>
          <a:p>
            <a:pPr algn="l"/>
            <a:r>
              <a:rPr sz="1200" b="1" i="0">
                <a:solidFill>
                  <a:srgbClr val="0D1B2A"/>
                </a:solidFill>
                <a:latin typeface="Calibri"/>
              </a:rPr>
              <a:t>BLOG</a:t>
            </a:r>
          </a:p>
        </p:txBody>
      </p:sp>
      <p:sp>
        <p:nvSpPr>
          <p:cNvPr id="9" name="TextBox 8"/>
          <p:cNvSpPr txBox="1"/>
          <p:nvPr/>
        </p:nvSpPr>
        <p:spPr>
          <a:xfrm>
            <a:off x="475488" y="1965960"/>
            <a:ext cx="2423160" cy="2560320"/>
          </a:xfrm>
          <a:prstGeom prst="rect">
            <a:avLst/>
          </a:prstGeom>
          <a:noFill/>
        </p:spPr>
        <p:txBody>
          <a:bodyPr wrap="square">
            <a:spAutoFit/>
          </a:bodyPr>
          <a:lstStyle/>
          <a:p>
            <a:pPr algn="l"/>
            <a:r>
              <a:rPr sz="1100" b="0" i="0">
                <a:solidFill>
                  <a:srgbClr val="FFFFFF"/>
                </a:solidFill>
                <a:latin typeface="Calibri"/>
              </a:rPr>
              <a:t>150-250 words
Title + short paragraphs
Few-shot style examples
Benefit-first structure</a:t>
            </a:r>
          </a:p>
        </p:txBody>
      </p:sp>
      <p:sp>
        <p:nvSpPr>
          <p:cNvPr id="10" name="Rectangle 9"/>
          <p:cNvSpPr/>
          <p:nvPr/>
        </p:nvSpPr>
        <p:spPr>
          <a:xfrm>
            <a:off x="3246120" y="1508760"/>
            <a:ext cx="2651760" cy="31089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46120" y="1508760"/>
            <a:ext cx="2651760" cy="36576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55848" y="1536192"/>
            <a:ext cx="2423160" cy="310896"/>
          </a:xfrm>
          <a:prstGeom prst="rect">
            <a:avLst/>
          </a:prstGeom>
          <a:noFill/>
        </p:spPr>
        <p:txBody>
          <a:bodyPr wrap="square">
            <a:spAutoFit/>
          </a:bodyPr>
          <a:lstStyle/>
          <a:p>
            <a:pPr algn="l"/>
            <a:r>
              <a:rPr sz="1200" b="1" i="0">
                <a:solidFill>
                  <a:srgbClr val="0D1B2A"/>
                </a:solidFill>
                <a:latin typeface="Calibri"/>
              </a:rPr>
              <a:t>INSTAGRAM</a:t>
            </a:r>
          </a:p>
        </p:txBody>
      </p:sp>
      <p:sp>
        <p:nvSpPr>
          <p:cNvPr id="13" name="TextBox 12"/>
          <p:cNvSpPr txBox="1"/>
          <p:nvPr/>
        </p:nvSpPr>
        <p:spPr>
          <a:xfrm>
            <a:off x="3355848" y="1965960"/>
            <a:ext cx="2423160" cy="2560320"/>
          </a:xfrm>
          <a:prstGeom prst="rect">
            <a:avLst/>
          </a:prstGeom>
          <a:noFill/>
        </p:spPr>
        <p:txBody>
          <a:bodyPr wrap="square">
            <a:spAutoFit/>
          </a:bodyPr>
          <a:lstStyle/>
          <a:p>
            <a:pPr algn="l"/>
            <a:r>
              <a:rPr sz="1100" b="0" i="0">
                <a:solidFill>
                  <a:srgbClr val="FFFFFF"/>
                </a:solidFill>
                <a:latin typeface="Calibri"/>
              </a:rPr>
              <a:t>1 strong hookline
2 short body sentences
1 closing sentence
Gen Z tone + emojis</a:t>
            </a:r>
          </a:p>
        </p:txBody>
      </p:sp>
      <p:sp>
        <p:nvSpPr>
          <p:cNvPr id="14" name="Rectangle 13"/>
          <p:cNvSpPr/>
          <p:nvPr/>
        </p:nvSpPr>
        <p:spPr>
          <a:xfrm>
            <a:off x="6126480" y="1508760"/>
            <a:ext cx="2651760" cy="31089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508760"/>
            <a:ext cx="2651760" cy="36576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36208" y="1536192"/>
            <a:ext cx="2423160" cy="310896"/>
          </a:xfrm>
          <a:prstGeom prst="rect">
            <a:avLst/>
          </a:prstGeom>
          <a:noFill/>
        </p:spPr>
        <p:txBody>
          <a:bodyPr wrap="square">
            <a:spAutoFit/>
          </a:bodyPr>
          <a:lstStyle/>
          <a:p>
            <a:pPr algn="l"/>
            <a:r>
              <a:rPr sz="1200" b="1" i="0">
                <a:solidFill>
                  <a:srgbClr val="0D1B2A"/>
                </a:solidFill>
                <a:latin typeface="Calibri"/>
              </a:rPr>
              <a:t>LINKEDIN</a:t>
            </a:r>
          </a:p>
        </p:txBody>
      </p:sp>
      <p:sp>
        <p:nvSpPr>
          <p:cNvPr id="17" name="TextBox 16"/>
          <p:cNvSpPr txBox="1"/>
          <p:nvPr/>
        </p:nvSpPr>
        <p:spPr>
          <a:xfrm>
            <a:off x="6236208" y="1965960"/>
            <a:ext cx="2423160" cy="2560320"/>
          </a:xfrm>
          <a:prstGeom prst="rect">
            <a:avLst/>
          </a:prstGeom>
          <a:noFill/>
        </p:spPr>
        <p:txBody>
          <a:bodyPr wrap="square">
            <a:spAutoFit/>
          </a:bodyPr>
          <a:lstStyle/>
          <a:p>
            <a:pPr algn="l"/>
            <a:r>
              <a:rPr sz="1100" b="0" i="0">
                <a:solidFill>
                  <a:srgbClr val="FFFFFF"/>
                </a:solidFill>
                <a:latin typeface="Calibri"/>
              </a:rPr>
              <a:t>250-350 words
Concrete insight opening
3 numbered takeaways
Hashtags + CTA</a:t>
            </a:r>
          </a:p>
        </p:txBody>
      </p:sp>
      <p:sp>
        <p:nvSpPr>
          <p:cNvPr id="18" name="Rectangle 17"/>
          <p:cNvSpPr/>
          <p:nvPr/>
        </p:nvSpPr>
        <p:spPr>
          <a:xfrm>
            <a:off x="9006840" y="1508760"/>
            <a:ext cx="2651760" cy="310896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6840" y="1508760"/>
            <a:ext cx="2651760" cy="3657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16567" y="1536192"/>
            <a:ext cx="2423160" cy="310896"/>
          </a:xfrm>
          <a:prstGeom prst="rect">
            <a:avLst/>
          </a:prstGeom>
          <a:noFill/>
        </p:spPr>
        <p:txBody>
          <a:bodyPr wrap="square">
            <a:spAutoFit/>
          </a:bodyPr>
          <a:lstStyle/>
          <a:p>
            <a:pPr algn="l"/>
            <a:r>
              <a:rPr sz="1200" b="1" i="0">
                <a:solidFill>
                  <a:srgbClr val="0D1B2A"/>
                </a:solidFill>
                <a:latin typeface="Calibri"/>
              </a:rPr>
              <a:t>EMAIL_SUBJECT</a:t>
            </a:r>
          </a:p>
        </p:txBody>
      </p:sp>
      <p:sp>
        <p:nvSpPr>
          <p:cNvPr id="21" name="TextBox 20"/>
          <p:cNvSpPr txBox="1"/>
          <p:nvPr/>
        </p:nvSpPr>
        <p:spPr>
          <a:xfrm>
            <a:off x="9116567" y="1965960"/>
            <a:ext cx="2423160" cy="2560320"/>
          </a:xfrm>
          <a:prstGeom prst="rect">
            <a:avLst/>
          </a:prstGeom>
          <a:noFill/>
        </p:spPr>
        <p:txBody>
          <a:bodyPr wrap="square">
            <a:spAutoFit/>
          </a:bodyPr>
          <a:lstStyle/>
          <a:p>
            <a:pPr algn="l"/>
            <a:r>
              <a:rPr sz="1100" b="0" i="0">
                <a:solidFill>
                  <a:srgbClr val="FFFFFF"/>
                </a:solidFill>
                <a:latin typeface="Calibri"/>
              </a:rPr>
              <a:t>5 subject lines
Under 15 characters each
Verb-led + emoji
No spam words</a:t>
            </a:r>
          </a:p>
        </p:txBody>
      </p:sp>
      <p:sp>
        <p:nvSpPr>
          <p:cNvPr id="22" name="Rectangle 21"/>
          <p:cNvSpPr/>
          <p:nvPr/>
        </p:nvSpPr>
        <p:spPr>
          <a:xfrm>
            <a:off x="365760" y="4800600"/>
            <a:ext cx="11430000" cy="182880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4846320"/>
            <a:ext cx="4572000" cy="320040"/>
          </a:xfrm>
          <a:prstGeom prst="rect">
            <a:avLst/>
          </a:prstGeom>
          <a:noFill/>
        </p:spPr>
        <p:txBody>
          <a:bodyPr wrap="square">
            <a:spAutoFit/>
          </a:bodyPr>
          <a:lstStyle/>
          <a:p>
            <a:pPr algn="l"/>
            <a:r>
              <a:rPr sz="1100" b="1" i="0">
                <a:solidFill>
                  <a:srgbClr val="00C8FF"/>
                </a:solidFill>
                <a:latin typeface="Calibri"/>
              </a:rPr>
              <a:t>HOW PROMPTS ARE ASSEMBLED</a:t>
            </a:r>
          </a:p>
        </p:txBody>
      </p:sp>
      <p:sp>
        <p:nvSpPr>
          <p:cNvPr id="24" name="Rectangle 23"/>
          <p:cNvSpPr/>
          <p:nvPr/>
        </p:nvSpPr>
        <p:spPr>
          <a:xfrm>
            <a:off x="457200" y="5230368"/>
            <a:ext cx="1691640" cy="411480"/>
          </a:xfrm>
          <a:prstGeom prst="rect">
            <a:avLst/>
          </a:prstGeom>
          <a:solidFill>
            <a:srgbClr val="0D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5257800"/>
            <a:ext cx="1508760" cy="347472"/>
          </a:xfrm>
          <a:prstGeom prst="rect">
            <a:avLst/>
          </a:prstGeom>
          <a:noFill/>
        </p:spPr>
        <p:txBody>
          <a:bodyPr wrap="square">
            <a:spAutoFit/>
          </a:bodyPr>
          <a:lstStyle/>
          <a:p>
            <a:pPr algn="ctr"/>
            <a:r>
              <a:rPr sz="1000" b="0" i="0">
                <a:solidFill>
                  <a:srgbClr val="00C8FF"/>
                </a:solidFill>
                <a:latin typeface="Calibri"/>
              </a:rPr>
              <a:t>Brand Identity</a:t>
            </a:r>
          </a:p>
        </p:txBody>
      </p:sp>
      <p:sp>
        <p:nvSpPr>
          <p:cNvPr id="26" name="Rectangle 25"/>
          <p:cNvSpPr/>
          <p:nvPr/>
        </p:nvSpPr>
        <p:spPr>
          <a:xfrm>
            <a:off x="2331720" y="5230368"/>
            <a:ext cx="1691640" cy="411480"/>
          </a:xfrm>
          <a:prstGeom prst="rect">
            <a:avLst/>
          </a:prstGeom>
          <a:solidFill>
            <a:srgbClr val="0D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23160" y="5257800"/>
            <a:ext cx="1508760" cy="347472"/>
          </a:xfrm>
          <a:prstGeom prst="rect">
            <a:avLst/>
          </a:prstGeom>
          <a:noFill/>
        </p:spPr>
        <p:txBody>
          <a:bodyPr wrap="square">
            <a:spAutoFit/>
          </a:bodyPr>
          <a:lstStyle/>
          <a:p>
            <a:pPr algn="ctr"/>
            <a:r>
              <a:rPr sz="1000" b="0" i="0">
                <a:solidFill>
                  <a:srgbClr val="00E596"/>
                </a:solidFill>
                <a:latin typeface="Calibri"/>
              </a:rPr>
              <a:t>Audience Insights</a:t>
            </a:r>
          </a:p>
        </p:txBody>
      </p:sp>
      <p:sp>
        <p:nvSpPr>
          <p:cNvPr id="28" name="Rectangle 27"/>
          <p:cNvSpPr/>
          <p:nvPr/>
        </p:nvSpPr>
        <p:spPr>
          <a:xfrm>
            <a:off x="4206240" y="5230368"/>
            <a:ext cx="1691640" cy="411480"/>
          </a:xfrm>
          <a:prstGeom prst="rect">
            <a:avLst/>
          </a:prstGeom>
          <a:solidFill>
            <a:srgbClr val="0D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297679" y="5257800"/>
            <a:ext cx="1508760" cy="347472"/>
          </a:xfrm>
          <a:prstGeom prst="rect">
            <a:avLst/>
          </a:prstGeom>
          <a:noFill/>
        </p:spPr>
        <p:txBody>
          <a:bodyPr wrap="square">
            <a:spAutoFit/>
          </a:bodyPr>
          <a:lstStyle/>
          <a:p>
            <a:pPr algn="ctr"/>
            <a:r>
              <a:rPr sz="1000" b="0" i="0">
                <a:solidFill>
                  <a:srgbClr val="FFC000"/>
                </a:solidFill>
                <a:latin typeface="Calibri"/>
              </a:rPr>
              <a:t>Product Specs</a:t>
            </a:r>
          </a:p>
        </p:txBody>
      </p:sp>
      <p:sp>
        <p:nvSpPr>
          <p:cNvPr id="30" name="Rectangle 29"/>
          <p:cNvSpPr/>
          <p:nvPr/>
        </p:nvSpPr>
        <p:spPr>
          <a:xfrm>
            <a:off x="6080759" y="5230368"/>
            <a:ext cx="1691640" cy="411480"/>
          </a:xfrm>
          <a:prstGeom prst="rect">
            <a:avLst/>
          </a:prstGeom>
          <a:solidFill>
            <a:srgbClr val="0D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172199" y="5257800"/>
            <a:ext cx="1508760" cy="347472"/>
          </a:xfrm>
          <a:prstGeom prst="rect">
            <a:avLst/>
          </a:prstGeom>
          <a:noFill/>
        </p:spPr>
        <p:txBody>
          <a:bodyPr wrap="square">
            <a:spAutoFit/>
          </a:bodyPr>
          <a:lstStyle/>
          <a:p>
            <a:pPr algn="ctr"/>
            <a:r>
              <a:rPr sz="1000" b="0" i="0">
                <a:solidFill>
                  <a:srgbClr val="FF6B35"/>
                </a:solidFill>
                <a:latin typeface="Calibri"/>
              </a:rPr>
              <a:t>Market Context</a:t>
            </a:r>
          </a:p>
        </p:txBody>
      </p:sp>
      <p:sp>
        <p:nvSpPr>
          <p:cNvPr id="32" name="Rectangle 31"/>
          <p:cNvSpPr/>
          <p:nvPr/>
        </p:nvSpPr>
        <p:spPr>
          <a:xfrm>
            <a:off x="7955279" y="5230368"/>
            <a:ext cx="1691640" cy="411480"/>
          </a:xfrm>
          <a:prstGeom prst="rect">
            <a:avLst/>
          </a:prstGeom>
          <a:solidFill>
            <a:srgbClr val="0D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19" y="5257800"/>
            <a:ext cx="1508760" cy="347472"/>
          </a:xfrm>
          <a:prstGeom prst="rect">
            <a:avLst/>
          </a:prstGeom>
          <a:noFill/>
        </p:spPr>
        <p:txBody>
          <a:bodyPr wrap="square">
            <a:spAutoFit/>
          </a:bodyPr>
          <a:lstStyle/>
          <a:p>
            <a:pPr algn="ctr"/>
            <a:r>
              <a:rPr sz="1000" b="0" i="0">
                <a:solidFill>
                  <a:srgbClr val="CC44FF"/>
                </a:solidFill>
                <a:latin typeface="Calibri"/>
              </a:rPr>
              <a:t>Style Examples</a:t>
            </a:r>
          </a:p>
        </p:txBody>
      </p:sp>
      <p:sp>
        <p:nvSpPr>
          <p:cNvPr id="34" name="Rectangle 33"/>
          <p:cNvSpPr/>
          <p:nvPr/>
        </p:nvSpPr>
        <p:spPr>
          <a:xfrm>
            <a:off x="9829800" y="5230368"/>
            <a:ext cx="1691640" cy="411480"/>
          </a:xfrm>
          <a:prstGeom prst="rect">
            <a:avLst/>
          </a:prstGeom>
          <a:solidFill>
            <a:srgbClr val="0D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921240" y="5257800"/>
            <a:ext cx="1508760" cy="347472"/>
          </a:xfrm>
          <a:prstGeom prst="rect">
            <a:avLst/>
          </a:prstGeom>
          <a:noFill/>
        </p:spPr>
        <p:txBody>
          <a:bodyPr wrap="square">
            <a:spAutoFit/>
          </a:bodyPr>
          <a:lstStyle/>
          <a:p>
            <a:pPr algn="ctr"/>
            <a:r>
              <a:rPr sz="1000" b="0" i="0">
                <a:solidFill>
                  <a:srgbClr val="C8D6E5"/>
                </a:solidFill>
                <a:latin typeface="Calibri"/>
              </a:rPr>
              <a:t>Content Brief</a:t>
            </a:r>
          </a:p>
        </p:txBody>
      </p:sp>
      <p:sp>
        <p:nvSpPr>
          <p:cNvPr id="36" name="TextBox 35"/>
          <p:cNvSpPr txBox="1"/>
          <p:nvPr/>
        </p:nvSpPr>
        <p:spPr>
          <a:xfrm>
            <a:off x="11475720" y="5303520"/>
            <a:ext cx="274320" cy="320040"/>
          </a:xfrm>
          <a:prstGeom prst="rect">
            <a:avLst/>
          </a:prstGeom>
          <a:noFill/>
        </p:spPr>
        <p:txBody>
          <a:bodyPr wrap="square">
            <a:spAutoFit/>
          </a:bodyPr>
          <a:lstStyle/>
          <a:p>
            <a:pPr algn="l"/>
            <a:r>
              <a:rPr sz="1600" b="1" i="0">
                <a:solidFill>
                  <a:srgbClr val="00C8FF"/>
                </a:solidFill>
                <a:latin typeface="Calibri"/>
              </a:rPr>
              <a:t>→</a:t>
            </a:r>
          </a:p>
        </p:txBody>
      </p:sp>
      <p:sp>
        <p:nvSpPr>
          <p:cNvPr id="37" name="Rectangle 36"/>
          <p:cNvSpPr/>
          <p:nvPr/>
        </p:nvSpPr>
        <p:spPr>
          <a:xfrm>
            <a:off x="365760" y="5760720"/>
            <a:ext cx="11430000" cy="73152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5833872"/>
            <a:ext cx="10972800" cy="548640"/>
          </a:xfrm>
          <a:prstGeom prst="rect">
            <a:avLst/>
          </a:prstGeom>
          <a:noFill/>
        </p:spPr>
        <p:txBody>
          <a:bodyPr wrap="square">
            <a:spAutoFit/>
          </a:bodyPr>
          <a:lstStyle/>
          <a:p>
            <a:pPr algn="ctr"/>
            <a:r>
              <a:rPr sz="1200" b="0" i="0">
                <a:solidFill>
                  <a:srgbClr val="FFFFFF"/>
                </a:solidFill>
                <a:latin typeface="Calibri"/>
              </a:rPr>
              <a:t>PromptContext dataclass aggregates all inputs → channel-specific builder injects context → LLM generates brand-aligned content</a:t>
            </a:r>
          </a:p>
        </p:txBody>
      </p:sp>
      <p:sp>
        <p:nvSpPr>
          <p:cNvPr id="39" name="TextBox 38"/>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07  —  CHALLENGES &amp; LEARNINGS</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What We Faced — What We Learned</a:t>
            </a:r>
          </a:p>
        </p:txBody>
      </p:sp>
      <p:sp>
        <p:nvSpPr>
          <p:cNvPr id="6" name="Rectangle 5"/>
          <p:cNvSpPr/>
          <p:nvPr/>
        </p:nvSpPr>
        <p:spPr>
          <a:xfrm>
            <a:off x="365760" y="1508760"/>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08760"/>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545336"/>
            <a:ext cx="5349240" cy="292608"/>
          </a:xfrm>
          <a:prstGeom prst="rect">
            <a:avLst/>
          </a:prstGeom>
          <a:noFill/>
        </p:spPr>
        <p:txBody>
          <a:bodyPr wrap="square">
            <a:spAutoFit/>
          </a:bodyPr>
          <a:lstStyle/>
          <a:p>
            <a:pPr algn="l"/>
            <a:r>
              <a:rPr sz="1200" b="1" i="0">
                <a:solidFill>
                  <a:srgbClr val="CC44FF"/>
                </a:solidFill>
                <a:latin typeface="Calibri"/>
              </a:rPr>
              <a:t>Generic Outputs</a:t>
            </a:r>
          </a:p>
        </p:txBody>
      </p:sp>
      <p:sp>
        <p:nvSpPr>
          <p:cNvPr id="9" name="TextBox 8"/>
          <p:cNvSpPr txBox="1"/>
          <p:nvPr/>
        </p:nvSpPr>
        <p:spPr>
          <a:xfrm>
            <a:off x="475488" y="194767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10" name="TextBox 9"/>
          <p:cNvSpPr txBox="1"/>
          <p:nvPr/>
        </p:nvSpPr>
        <p:spPr>
          <a:xfrm>
            <a:off x="1536192" y="1947672"/>
            <a:ext cx="4297680" cy="475488"/>
          </a:xfrm>
          <a:prstGeom prst="rect">
            <a:avLst/>
          </a:prstGeom>
          <a:noFill/>
        </p:spPr>
        <p:txBody>
          <a:bodyPr wrap="square">
            <a:spAutoFit/>
          </a:bodyPr>
          <a:lstStyle/>
          <a:p>
            <a:pPr algn="l"/>
            <a:r>
              <a:rPr sz="1000" b="0" i="0">
                <a:solidFill>
                  <a:srgbClr val="C8D6E5"/>
                </a:solidFill>
                <a:latin typeface="Calibri"/>
              </a:rPr>
              <a:t>Initial content was indistinguishable from vanilla ChatGPT</a:t>
            </a:r>
          </a:p>
        </p:txBody>
      </p:sp>
      <p:sp>
        <p:nvSpPr>
          <p:cNvPr id="11" name="TextBox 10"/>
          <p:cNvSpPr txBox="1"/>
          <p:nvPr/>
        </p:nvSpPr>
        <p:spPr>
          <a:xfrm>
            <a:off x="475488" y="2496312"/>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12" name="TextBox 11"/>
          <p:cNvSpPr txBox="1"/>
          <p:nvPr/>
        </p:nvSpPr>
        <p:spPr>
          <a:xfrm>
            <a:off x="1389888" y="2496312"/>
            <a:ext cx="4443984" cy="822960"/>
          </a:xfrm>
          <a:prstGeom prst="rect">
            <a:avLst/>
          </a:prstGeom>
          <a:noFill/>
        </p:spPr>
        <p:txBody>
          <a:bodyPr wrap="square">
            <a:spAutoFit/>
          </a:bodyPr>
          <a:lstStyle/>
          <a:p>
            <a:pPr algn="l"/>
            <a:r>
              <a:rPr sz="1000" b="0" i="0">
                <a:solidFill>
                  <a:srgbClr val="FFFFFF"/>
                </a:solidFill>
                <a:latin typeface="Calibri"/>
              </a:rPr>
              <a:t>Deep KB injection into every prompt + few-shot style examples forced brand anchoring</a:t>
            </a:r>
          </a:p>
        </p:txBody>
      </p:sp>
      <p:sp>
        <p:nvSpPr>
          <p:cNvPr id="13" name="Rectangle 12"/>
          <p:cNvSpPr/>
          <p:nvPr/>
        </p:nvSpPr>
        <p:spPr>
          <a:xfrm>
            <a:off x="6309360" y="1508760"/>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09360" y="1508760"/>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1545336"/>
            <a:ext cx="5349240" cy="292608"/>
          </a:xfrm>
          <a:prstGeom prst="rect">
            <a:avLst/>
          </a:prstGeom>
          <a:noFill/>
        </p:spPr>
        <p:txBody>
          <a:bodyPr wrap="square">
            <a:spAutoFit/>
          </a:bodyPr>
          <a:lstStyle/>
          <a:p>
            <a:pPr algn="l"/>
            <a:r>
              <a:rPr sz="1200" b="1" i="0">
                <a:solidFill>
                  <a:srgbClr val="CC44FF"/>
                </a:solidFill>
                <a:latin typeface="Calibri"/>
              </a:rPr>
              <a:t>EM Dash Problem</a:t>
            </a:r>
          </a:p>
        </p:txBody>
      </p:sp>
      <p:sp>
        <p:nvSpPr>
          <p:cNvPr id="16" name="TextBox 15"/>
          <p:cNvSpPr txBox="1"/>
          <p:nvPr/>
        </p:nvSpPr>
        <p:spPr>
          <a:xfrm>
            <a:off x="6419088" y="194767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17" name="TextBox 16"/>
          <p:cNvSpPr txBox="1"/>
          <p:nvPr/>
        </p:nvSpPr>
        <p:spPr>
          <a:xfrm>
            <a:off x="7479792" y="1947672"/>
            <a:ext cx="4297680" cy="475488"/>
          </a:xfrm>
          <a:prstGeom prst="rect">
            <a:avLst/>
          </a:prstGeom>
          <a:noFill/>
        </p:spPr>
        <p:txBody>
          <a:bodyPr wrap="square">
            <a:spAutoFit/>
          </a:bodyPr>
          <a:lstStyle/>
          <a:p>
            <a:pPr algn="l"/>
            <a:r>
              <a:rPr sz="1000" b="0" i="0">
                <a:solidFill>
                  <a:srgbClr val="C8D6E5"/>
                </a:solidFill>
                <a:latin typeface="Calibri"/>
              </a:rPr>
              <a:t>LLMs default to em-dash overuse — a strong "AI-writing" signal</a:t>
            </a:r>
          </a:p>
        </p:txBody>
      </p:sp>
      <p:sp>
        <p:nvSpPr>
          <p:cNvPr id="18" name="TextBox 17"/>
          <p:cNvSpPr txBox="1"/>
          <p:nvPr/>
        </p:nvSpPr>
        <p:spPr>
          <a:xfrm>
            <a:off x="6419088" y="2496312"/>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19" name="TextBox 18"/>
          <p:cNvSpPr txBox="1"/>
          <p:nvPr/>
        </p:nvSpPr>
        <p:spPr>
          <a:xfrm>
            <a:off x="7333488" y="2496312"/>
            <a:ext cx="4443984" cy="822960"/>
          </a:xfrm>
          <a:prstGeom prst="rect">
            <a:avLst/>
          </a:prstGeom>
          <a:noFill/>
        </p:spPr>
        <p:txBody>
          <a:bodyPr wrap="square">
            <a:spAutoFit/>
          </a:bodyPr>
          <a:lstStyle/>
          <a:p>
            <a:pPr algn="l"/>
            <a:r>
              <a:rPr sz="1000" b="0" i="0">
                <a:solidFill>
                  <a:srgbClr val="FFFFFF"/>
                </a:solidFill>
                <a:latin typeface="Calibri"/>
              </a:rPr>
              <a:t>Added NO_EM_DASH_RULE to all system prompts; tested across 10+ outputs to verify removal</a:t>
            </a:r>
          </a:p>
        </p:txBody>
      </p:sp>
      <p:sp>
        <p:nvSpPr>
          <p:cNvPr id="20" name="Rectangle 19"/>
          <p:cNvSpPr/>
          <p:nvPr/>
        </p:nvSpPr>
        <p:spPr>
          <a:xfrm>
            <a:off x="365760" y="3840479"/>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3840479"/>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3877055"/>
            <a:ext cx="5349240" cy="292608"/>
          </a:xfrm>
          <a:prstGeom prst="rect">
            <a:avLst/>
          </a:prstGeom>
          <a:noFill/>
        </p:spPr>
        <p:txBody>
          <a:bodyPr wrap="square">
            <a:spAutoFit/>
          </a:bodyPr>
          <a:lstStyle/>
          <a:p>
            <a:pPr algn="l"/>
            <a:r>
              <a:rPr sz="1200" b="1" i="0">
                <a:solidFill>
                  <a:srgbClr val="CC44FF"/>
                </a:solidFill>
                <a:latin typeface="Calibri"/>
              </a:rPr>
              <a:t>Prompt Chaining</a:t>
            </a:r>
          </a:p>
        </p:txBody>
      </p:sp>
      <p:sp>
        <p:nvSpPr>
          <p:cNvPr id="23" name="TextBox 22"/>
          <p:cNvSpPr txBox="1"/>
          <p:nvPr/>
        </p:nvSpPr>
        <p:spPr>
          <a:xfrm>
            <a:off x="475488" y="427939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24" name="TextBox 23"/>
          <p:cNvSpPr txBox="1"/>
          <p:nvPr/>
        </p:nvSpPr>
        <p:spPr>
          <a:xfrm>
            <a:off x="1536192" y="4279392"/>
            <a:ext cx="4297680" cy="475488"/>
          </a:xfrm>
          <a:prstGeom prst="rect">
            <a:avLst/>
          </a:prstGeom>
          <a:noFill/>
        </p:spPr>
        <p:txBody>
          <a:bodyPr wrap="square">
            <a:spAutoFit/>
          </a:bodyPr>
          <a:lstStyle/>
          <a:p>
            <a:pPr algn="l"/>
            <a:r>
              <a:rPr sz="1000" b="0" i="0">
                <a:solidFill>
                  <a:srgbClr val="C8D6E5"/>
                </a:solidFill>
                <a:latin typeface="Calibri"/>
              </a:rPr>
              <a:t>Single-step prompts produced shallow content without strategic angle</a:t>
            </a:r>
          </a:p>
        </p:txBody>
      </p:sp>
      <p:sp>
        <p:nvSpPr>
          <p:cNvPr id="25" name="TextBox 24"/>
          <p:cNvSpPr txBox="1"/>
          <p:nvPr/>
        </p:nvSpPr>
        <p:spPr>
          <a:xfrm>
            <a:off x="475488" y="4828031"/>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26" name="TextBox 25"/>
          <p:cNvSpPr txBox="1"/>
          <p:nvPr/>
        </p:nvSpPr>
        <p:spPr>
          <a:xfrm>
            <a:off x="1389888" y="4828031"/>
            <a:ext cx="4443984" cy="822960"/>
          </a:xfrm>
          <a:prstGeom prst="rect">
            <a:avLst/>
          </a:prstGeom>
          <a:noFill/>
        </p:spPr>
        <p:txBody>
          <a:bodyPr wrap="square">
            <a:spAutoFit/>
          </a:bodyPr>
          <a:lstStyle/>
          <a:p>
            <a:pPr algn="l"/>
            <a:r>
              <a:rPr sz="1000" b="0" i="0">
                <a:solidFill>
                  <a:srgbClr val="FFFFFF"/>
                </a:solidFill>
                <a:latin typeface="Calibri"/>
              </a:rPr>
              <a:t>Added BRIEF stage before PUBLISH: forced angle + hook + insight before generating final content</a:t>
            </a:r>
          </a:p>
        </p:txBody>
      </p:sp>
      <p:sp>
        <p:nvSpPr>
          <p:cNvPr id="27" name="Rectangle 26"/>
          <p:cNvSpPr/>
          <p:nvPr/>
        </p:nvSpPr>
        <p:spPr>
          <a:xfrm>
            <a:off x="6309360" y="3840479"/>
            <a:ext cx="5577840" cy="210312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09360" y="3840479"/>
            <a:ext cx="5577840" cy="347472"/>
          </a:xfrm>
          <a:prstGeom prst="rect">
            <a:avLst/>
          </a:prstGeom>
          <a:solidFill>
            <a:srgbClr val="3A00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3877055"/>
            <a:ext cx="5349240" cy="292608"/>
          </a:xfrm>
          <a:prstGeom prst="rect">
            <a:avLst/>
          </a:prstGeom>
          <a:noFill/>
        </p:spPr>
        <p:txBody>
          <a:bodyPr wrap="square">
            <a:spAutoFit/>
          </a:bodyPr>
          <a:lstStyle/>
          <a:p>
            <a:pPr algn="l"/>
            <a:r>
              <a:rPr sz="1200" b="1" i="0">
                <a:solidFill>
                  <a:srgbClr val="CC44FF"/>
                </a:solidFill>
                <a:latin typeface="Calibri"/>
              </a:rPr>
              <a:t>Consistency Across Channels</a:t>
            </a:r>
          </a:p>
        </p:txBody>
      </p:sp>
      <p:sp>
        <p:nvSpPr>
          <p:cNvPr id="30" name="TextBox 29"/>
          <p:cNvSpPr txBox="1"/>
          <p:nvPr/>
        </p:nvSpPr>
        <p:spPr>
          <a:xfrm>
            <a:off x="6419088" y="4279392"/>
            <a:ext cx="1097280" cy="256032"/>
          </a:xfrm>
          <a:prstGeom prst="rect">
            <a:avLst/>
          </a:prstGeom>
          <a:noFill/>
        </p:spPr>
        <p:txBody>
          <a:bodyPr wrap="square">
            <a:spAutoFit/>
          </a:bodyPr>
          <a:lstStyle/>
          <a:p>
            <a:pPr algn="l"/>
            <a:r>
              <a:rPr sz="1000" b="1" i="0">
                <a:solidFill>
                  <a:srgbClr val="FF6B35"/>
                </a:solidFill>
                <a:latin typeface="Calibri"/>
              </a:rPr>
              <a:t>Challenge:</a:t>
            </a:r>
          </a:p>
        </p:txBody>
      </p:sp>
      <p:sp>
        <p:nvSpPr>
          <p:cNvPr id="31" name="TextBox 30"/>
          <p:cNvSpPr txBox="1"/>
          <p:nvPr/>
        </p:nvSpPr>
        <p:spPr>
          <a:xfrm>
            <a:off x="7479792" y="4279392"/>
            <a:ext cx="4297680" cy="475488"/>
          </a:xfrm>
          <a:prstGeom prst="rect">
            <a:avLst/>
          </a:prstGeom>
          <a:noFill/>
        </p:spPr>
        <p:txBody>
          <a:bodyPr wrap="square">
            <a:spAutoFit/>
          </a:bodyPr>
          <a:lstStyle/>
          <a:p>
            <a:pPr algn="l"/>
            <a:r>
              <a:rPr sz="1000" b="0" i="0">
                <a:solidFill>
                  <a:srgbClr val="C8D6E5"/>
                </a:solidFill>
                <a:latin typeface="Calibri"/>
              </a:rPr>
              <a:t>Blog voice leaked into Instagram; LinkedIn felt too casual</a:t>
            </a:r>
          </a:p>
        </p:txBody>
      </p:sp>
      <p:sp>
        <p:nvSpPr>
          <p:cNvPr id="32" name="TextBox 31"/>
          <p:cNvSpPr txBox="1"/>
          <p:nvPr/>
        </p:nvSpPr>
        <p:spPr>
          <a:xfrm>
            <a:off x="6419088" y="4828031"/>
            <a:ext cx="914400" cy="256032"/>
          </a:xfrm>
          <a:prstGeom prst="rect">
            <a:avLst/>
          </a:prstGeom>
          <a:noFill/>
        </p:spPr>
        <p:txBody>
          <a:bodyPr wrap="square">
            <a:spAutoFit/>
          </a:bodyPr>
          <a:lstStyle/>
          <a:p>
            <a:pPr algn="l"/>
            <a:r>
              <a:rPr sz="1000" b="1" i="0">
                <a:solidFill>
                  <a:srgbClr val="00E596"/>
                </a:solidFill>
                <a:latin typeface="Calibri"/>
              </a:rPr>
              <a:t>Solution:</a:t>
            </a:r>
          </a:p>
        </p:txBody>
      </p:sp>
      <p:sp>
        <p:nvSpPr>
          <p:cNvPr id="33" name="TextBox 32"/>
          <p:cNvSpPr txBox="1"/>
          <p:nvPr/>
        </p:nvSpPr>
        <p:spPr>
          <a:xfrm>
            <a:off x="7333488" y="4828031"/>
            <a:ext cx="4443984" cy="822960"/>
          </a:xfrm>
          <a:prstGeom prst="rect">
            <a:avLst/>
          </a:prstGeom>
          <a:noFill/>
        </p:spPr>
        <p:txBody>
          <a:bodyPr wrap="square">
            <a:spAutoFit/>
          </a:bodyPr>
          <a:lstStyle/>
          <a:p>
            <a:pPr algn="l"/>
            <a:r>
              <a:rPr sz="1000" b="0" i="0">
                <a:solidFill>
                  <a:srgbClr val="FFFFFF"/>
                </a:solidFill>
                <a:latin typeface="Calibri"/>
              </a:rPr>
              <a:t>Built separate prompt builders per channel with strict character/tone/structure rules</a:t>
            </a:r>
          </a:p>
        </p:txBody>
      </p:sp>
      <p:sp>
        <p:nvSpPr>
          <p:cNvPr id="34" name="Rectangle 33"/>
          <p:cNvSpPr/>
          <p:nvPr/>
        </p:nvSpPr>
        <p:spPr>
          <a:xfrm>
            <a:off x="365760" y="6144768"/>
            <a:ext cx="11430000" cy="548640"/>
          </a:xfrm>
          <a:prstGeom prst="rect">
            <a:avLst/>
          </a:prstGeom>
          <a:solidFill>
            <a:srgbClr val="002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48640" y="6190488"/>
            <a:ext cx="10972800" cy="457200"/>
          </a:xfrm>
          <a:prstGeom prst="rect">
            <a:avLst/>
          </a:prstGeom>
          <a:noFill/>
        </p:spPr>
        <p:txBody>
          <a:bodyPr wrap="square">
            <a:spAutoFit/>
          </a:bodyPr>
          <a:lstStyle/>
          <a:p>
            <a:pPr algn="ctr"/>
            <a:r>
              <a:rPr sz="1200" b="1" i="0">
                <a:solidFill>
                  <a:srgbClr val="00E596"/>
                </a:solidFill>
                <a:latin typeface="Calibri"/>
              </a:rPr>
              <a:t>Key Learning: Uniqueness comes from specific CONTEXT, not better prompts. Depth of knowledge base = depth of content differentiation.</a:t>
            </a:r>
          </a:p>
        </p:txBody>
      </p:sp>
      <p:sp>
        <p:nvSpPr>
          <p:cNvPr id="36" name="TextBox 35"/>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3657600" cy="320040"/>
          </a:xfrm>
          <a:prstGeom prst="rect">
            <a:avLst/>
          </a:prstGeom>
          <a:noFill/>
        </p:spPr>
        <p:txBody>
          <a:bodyPr wrap="square">
            <a:spAutoFit/>
          </a:bodyPr>
          <a:lstStyle/>
          <a:p>
            <a:pPr algn="l"/>
            <a:r>
              <a:rPr sz="1000" b="1" i="0">
                <a:solidFill>
                  <a:srgbClr val="00C8FF"/>
                </a:solidFill>
                <a:latin typeface="Calibri"/>
              </a:rPr>
              <a:t>08  —  NEXT STEPS</a:t>
            </a:r>
          </a:p>
        </p:txBody>
      </p:sp>
      <p:sp>
        <p:nvSpPr>
          <p:cNvPr id="4" name="Rectangle 3"/>
          <p:cNvSpPr/>
          <p:nvPr/>
        </p:nvSpPr>
        <p:spPr>
          <a:xfrm>
            <a:off x="365760" y="658368"/>
            <a:ext cx="36576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31520"/>
            <a:ext cx="10058400" cy="594360"/>
          </a:xfrm>
          <a:prstGeom prst="rect">
            <a:avLst/>
          </a:prstGeom>
          <a:noFill/>
        </p:spPr>
        <p:txBody>
          <a:bodyPr wrap="square">
            <a:spAutoFit/>
          </a:bodyPr>
          <a:lstStyle/>
          <a:p>
            <a:pPr algn="l"/>
            <a:r>
              <a:rPr sz="3000" b="1" i="0">
                <a:solidFill>
                  <a:srgbClr val="FFFFFF"/>
                </a:solidFill>
                <a:latin typeface="Calibri"/>
              </a:rPr>
              <a:t>Future Improvements</a:t>
            </a:r>
          </a:p>
        </p:txBody>
      </p:sp>
      <p:sp>
        <p:nvSpPr>
          <p:cNvPr id="6" name="Rectangle 5"/>
          <p:cNvSpPr/>
          <p:nvPr/>
        </p:nvSpPr>
        <p:spPr>
          <a:xfrm>
            <a:off x="365760" y="1508760"/>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08760"/>
            <a:ext cx="54864" cy="10972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600200"/>
            <a:ext cx="3657600" cy="347472"/>
          </a:xfrm>
          <a:prstGeom prst="rect">
            <a:avLst/>
          </a:prstGeom>
          <a:noFill/>
        </p:spPr>
        <p:txBody>
          <a:bodyPr wrap="square">
            <a:spAutoFit/>
          </a:bodyPr>
          <a:lstStyle/>
          <a:p>
            <a:pPr algn="l"/>
            <a:r>
              <a:rPr sz="1400" b="1" i="0">
                <a:solidFill>
                  <a:srgbClr val="00C8FF"/>
                </a:solidFill>
                <a:latin typeface="Calibri"/>
              </a:rPr>
              <a:t>RAG / Vector Retrieval</a:t>
            </a:r>
          </a:p>
        </p:txBody>
      </p:sp>
      <p:sp>
        <p:nvSpPr>
          <p:cNvPr id="9" name="TextBox 8"/>
          <p:cNvSpPr txBox="1"/>
          <p:nvPr/>
        </p:nvSpPr>
        <p:spPr>
          <a:xfrm>
            <a:off x="10515600" y="1600200"/>
            <a:ext cx="1097280" cy="320040"/>
          </a:xfrm>
          <a:prstGeom prst="rect">
            <a:avLst/>
          </a:prstGeom>
          <a:noFill/>
        </p:spPr>
        <p:txBody>
          <a:bodyPr wrap="square">
            <a:spAutoFit/>
          </a:bodyPr>
          <a:lstStyle/>
          <a:p>
            <a:pPr algn="ctr"/>
            <a:r>
              <a:rPr sz="1000" b="1" i="0">
                <a:solidFill>
                  <a:srgbClr val="0D1B2A"/>
                </a:solidFill>
                <a:latin typeface="Calibri"/>
              </a:rPr>
              <a:t>Future Module</a:t>
            </a:r>
          </a:p>
        </p:txBody>
      </p:sp>
      <p:sp>
        <p:nvSpPr>
          <p:cNvPr id="10" name="Rectangle 9"/>
          <p:cNvSpPr/>
          <p:nvPr/>
        </p:nvSpPr>
        <p:spPr>
          <a:xfrm>
            <a:off x="10332720" y="1581912"/>
            <a:ext cx="1371600" cy="347472"/>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20" y="1600200"/>
            <a:ext cx="1371600" cy="320040"/>
          </a:xfrm>
          <a:prstGeom prst="rect">
            <a:avLst/>
          </a:prstGeom>
          <a:noFill/>
        </p:spPr>
        <p:txBody>
          <a:bodyPr wrap="square">
            <a:spAutoFit/>
          </a:bodyPr>
          <a:lstStyle/>
          <a:p>
            <a:pPr algn="ctr"/>
            <a:r>
              <a:rPr sz="900" b="1" i="0">
                <a:solidFill>
                  <a:srgbClr val="0D1B2A"/>
                </a:solidFill>
                <a:latin typeface="Calibri"/>
              </a:rPr>
              <a:t>Future Module</a:t>
            </a:r>
          </a:p>
        </p:txBody>
      </p:sp>
      <p:sp>
        <p:nvSpPr>
          <p:cNvPr id="12" name="TextBox 11"/>
          <p:cNvSpPr txBox="1"/>
          <p:nvPr/>
        </p:nvSpPr>
        <p:spPr>
          <a:xfrm>
            <a:off x="594360" y="2011680"/>
            <a:ext cx="9509760" cy="502920"/>
          </a:xfrm>
          <a:prstGeom prst="rect">
            <a:avLst/>
          </a:prstGeom>
          <a:noFill/>
        </p:spPr>
        <p:txBody>
          <a:bodyPr wrap="square">
            <a:spAutoFit/>
          </a:bodyPr>
          <a:lstStyle/>
          <a:p>
            <a:pPr algn="l"/>
            <a:r>
              <a:rPr sz="1200" b="0" i="0">
                <a:solidFill>
                  <a:srgbClr val="C8D6E5"/>
                </a:solidFill>
                <a:latin typeface="Calibri"/>
              </a:rPr>
              <a:t>Replace flat markdown loading with semantic vector search. Retrieves only the most relevant KB chunks per topic — not required for Project 2, planned for future module.</a:t>
            </a:r>
          </a:p>
        </p:txBody>
      </p:sp>
      <p:sp>
        <p:nvSpPr>
          <p:cNvPr id="13" name="Rectangle 12"/>
          <p:cNvSpPr/>
          <p:nvPr/>
        </p:nvSpPr>
        <p:spPr>
          <a:xfrm>
            <a:off x="365760" y="2743200"/>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2743200"/>
            <a:ext cx="54864" cy="1097280"/>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2834640"/>
            <a:ext cx="3657600" cy="347472"/>
          </a:xfrm>
          <a:prstGeom prst="rect">
            <a:avLst/>
          </a:prstGeom>
          <a:noFill/>
        </p:spPr>
        <p:txBody>
          <a:bodyPr wrap="square">
            <a:spAutoFit/>
          </a:bodyPr>
          <a:lstStyle/>
          <a:p>
            <a:pPr algn="l"/>
            <a:r>
              <a:rPr sz="1400" b="1" i="0">
                <a:solidFill>
                  <a:srgbClr val="00E596"/>
                </a:solidFill>
                <a:latin typeface="Calibri"/>
              </a:rPr>
              <a:t>Advanced Monitoring</a:t>
            </a:r>
          </a:p>
        </p:txBody>
      </p:sp>
      <p:sp>
        <p:nvSpPr>
          <p:cNvPr id="16" name="TextBox 15"/>
          <p:cNvSpPr txBox="1"/>
          <p:nvPr/>
        </p:nvSpPr>
        <p:spPr>
          <a:xfrm>
            <a:off x="10515600" y="2834640"/>
            <a:ext cx="1097280" cy="320040"/>
          </a:xfrm>
          <a:prstGeom prst="rect">
            <a:avLst/>
          </a:prstGeom>
          <a:noFill/>
        </p:spPr>
        <p:txBody>
          <a:bodyPr wrap="square">
            <a:spAutoFit/>
          </a:bodyPr>
          <a:lstStyle/>
          <a:p>
            <a:pPr algn="ctr"/>
            <a:r>
              <a:rPr sz="1000" b="1" i="0">
                <a:solidFill>
                  <a:srgbClr val="0D1B2A"/>
                </a:solidFill>
                <a:latin typeface="Calibri"/>
              </a:rPr>
              <a:t>Next Sprint</a:t>
            </a:r>
          </a:p>
        </p:txBody>
      </p:sp>
      <p:sp>
        <p:nvSpPr>
          <p:cNvPr id="17" name="Rectangle 16"/>
          <p:cNvSpPr/>
          <p:nvPr/>
        </p:nvSpPr>
        <p:spPr>
          <a:xfrm>
            <a:off x="10332720" y="2816352"/>
            <a:ext cx="1371600" cy="347472"/>
          </a:xfrm>
          <a:prstGeom prst="rect">
            <a:avLst/>
          </a:prstGeom>
          <a:solidFill>
            <a:srgbClr val="00E5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332720" y="2834640"/>
            <a:ext cx="1371600" cy="320040"/>
          </a:xfrm>
          <a:prstGeom prst="rect">
            <a:avLst/>
          </a:prstGeom>
          <a:noFill/>
        </p:spPr>
        <p:txBody>
          <a:bodyPr wrap="square">
            <a:spAutoFit/>
          </a:bodyPr>
          <a:lstStyle/>
          <a:p>
            <a:pPr algn="ctr"/>
            <a:r>
              <a:rPr sz="900" b="1" i="0">
                <a:solidFill>
                  <a:srgbClr val="0D1B2A"/>
                </a:solidFill>
                <a:latin typeface="Calibri"/>
              </a:rPr>
              <a:t>Next Sprint</a:t>
            </a:r>
          </a:p>
        </p:txBody>
      </p:sp>
      <p:sp>
        <p:nvSpPr>
          <p:cNvPr id="19" name="TextBox 18"/>
          <p:cNvSpPr txBox="1"/>
          <p:nvPr/>
        </p:nvSpPr>
        <p:spPr>
          <a:xfrm>
            <a:off x="594360" y="3246120"/>
            <a:ext cx="9509760" cy="502920"/>
          </a:xfrm>
          <a:prstGeom prst="rect">
            <a:avLst/>
          </a:prstGeom>
          <a:noFill/>
        </p:spPr>
        <p:txBody>
          <a:bodyPr wrap="square">
            <a:spAutoFit/>
          </a:bodyPr>
          <a:lstStyle/>
          <a:p>
            <a:pPr algn="l"/>
            <a:r>
              <a:rPr sz="1200" b="0" i="0">
                <a:solidFill>
                  <a:srgbClr val="C8D6E5"/>
                </a:solidFill>
                <a:latin typeface="Calibri"/>
              </a:rPr>
              <a:t>Track content performance metrics: engagement rates, A/B comparison, auto-scoring against brand guidelines on every generation.</a:t>
            </a:r>
          </a:p>
        </p:txBody>
      </p:sp>
      <p:sp>
        <p:nvSpPr>
          <p:cNvPr id="20" name="Rectangle 19"/>
          <p:cNvSpPr/>
          <p:nvPr/>
        </p:nvSpPr>
        <p:spPr>
          <a:xfrm>
            <a:off x="365760" y="3977639"/>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3977639"/>
            <a:ext cx="54864" cy="10972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4069079"/>
            <a:ext cx="3657600" cy="347472"/>
          </a:xfrm>
          <a:prstGeom prst="rect">
            <a:avLst/>
          </a:prstGeom>
          <a:noFill/>
        </p:spPr>
        <p:txBody>
          <a:bodyPr wrap="square">
            <a:spAutoFit/>
          </a:bodyPr>
          <a:lstStyle/>
          <a:p>
            <a:pPr algn="l"/>
            <a:r>
              <a:rPr sz="1400" b="1" i="0">
                <a:solidFill>
                  <a:srgbClr val="FFC000"/>
                </a:solidFill>
                <a:latin typeface="Calibri"/>
              </a:rPr>
              <a:t>Automated Publishing</a:t>
            </a:r>
          </a:p>
        </p:txBody>
      </p:sp>
      <p:sp>
        <p:nvSpPr>
          <p:cNvPr id="23" name="TextBox 22"/>
          <p:cNvSpPr txBox="1"/>
          <p:nvPr/>
        </p:nvSpPr>
        <p:spPr>
          <a:xfrm>
            <a:off x="10515600" y="4069079"/>
            <a:ext cx="1097280" cy="320040"/>
          </a:xfrm>
          <a:prstGeom prst="rect">
            <a:avLst/>
          </a:prstGeom>
          <a:noFill/>
        </p:spPr>
        <p:txBody>
          <a:bodyPr wrap="square">
            <a:spAutoFit/>
          </a:bodyPr>
          <a:lstStyle/>
          <a:p>
            <a:pPr algn="ctr"/>
            <a:r>
              <a:rPr sz="1000" b="1" i="0">
                <a:solidFill>
                  <a:srgbClr val="0D1B2A"/>
                </a:solidFill>
                <a:latin typeface="Calibri"/>
              </a:rPr>
              <a:t>Phase 2</a:t>
            </a:r>
          </a:p>
        </p:txBody>
      </p:sp>
      <p:sp>
        <p:nvSpPr>
          <p:cNvPr id="24" name="Rectangle 23"/>
          <p:cNvSpPr/>
          <p:nvPr/>
        </p:nvSpPr>
        <p:spPr>
          <a:xfrm>
            <a:off x="10332720" y="4050791"/>
            <a:ext cx="137160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332720" y="4069079"/>
            <a:ext cx="1371600" cy="320040"/>
          </a:xfrm>
          <a:prstGeom prst="rect">
            <a:avLst/>
          </a:prstGeom>
          <a:noFill/>
        </p:spPr>
        <p:txBody>
          <a:bodyPr wrap="square">
            <a:spAutoFit/>
          </a:bodyPr>
          <a:lstStyle/>
          <a:p>
            <a:pPr algn="ctr"/>
            <a:r>
              <a:rPr sz="900" b="1" i="0">
                <a:solidFill>
                  <a:srgbClr val="0D1B2A"/>
                </a:solidFill>
                <a:latin typeface="Calibri"/>
              </a:rPr>
              <a:t>Phase 2</a:t>
            </a:r>
          </a:p>
        </p:txBody>
      </p:sp>
      <p:sp>
        <p:nvSpPr>
          <p:cNvPr id="26" name="TextBox 25"/>
          <p:cNvSpPr txBox="1"/>
          <p:nvPr/>
        </p:nvSpPr>
        <p:spPr>
          <a:xfrm>
            <a:off x="594360" y="4480559"/>
            <a:ext cx="9509760" cy="502920"/>
          </a:xfrm>
          <a:prstGeom prst="rect">
            <a:avLst/>
          </a:prstGeom>
          <a:noFill/>
        </p:spPr>
        <p:txBody>
          <a:bodyPr wrap="square">
            <a:spAutoFit/>
          </a:bodyPr>
          <a:lstStyle/>
          <a:p>
            <a:pPr algn="l"/>
            <a:r>
              <a:rPr sz="1200" b="0" i="0">
                <a:solidFill>
                  <a:srgbClr val="C8D6E5"/>
                </a:solidFill>
                <a:latin typeface="Calibri"/>
              </a:rPr>
              <a:t>Direct API publishing to Instagram, LinkedIn, email platforms. Approval workflow with one-click scheduling.</a:t>
            </a:r>
          </a:p>
        </p:txBody>
      </p:sp>
      <p:sp>
        <p:nvSpPr>
          <p:cNvPr id="27" name="Rectangle 26"/>
          <p:cNvSpPr/>
          <p:nvPr/>
        </p:nvSpPr>
        <p:spPr>
          <a:xfrm>
            <a:off x="365760" y="5212080"/>
            <a:ext cx="11430000" cy="109728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5760" y="5212080"/>
            <a:ext cx="54864" cy="10972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5303520"/>
            <a:ext cx="3657600" cy="347472"/>
          </a:xfrm>
          <a:prstGeom prst="rect">
            <a:avLst/>
          </a:prstGeom>
          <a:noFill/>
        </p:spPr>
        <p:txBody>
          <a:bodyPr wrap="square">
            <a:spAutoFit/>
          </a:bodyPr>
          <a:lstStyle/>
          <a:p>
            <a:pPr algn="l"/>
            <a:r>
              <a:rPr sz="1400" b="1" i="0">
                <a:solidFill>
                  <a:srgbClr val="FF6B35"/>
                </a:solidFill>
                <a:latin typeface="Calibri"/>
              </a:rPr>
              <a:t>Multi-Brand Support</a:t>
            </a:r>
          </a:p>
        </p:txBody>
      </p:sp>
      <p:sp>
        <p:nvSpPr>
          <p:cNvPr id="30" name="TextBox 29"/>
          <p:cNvSpPr txBox="1"/>
          <p:nvPr/>
        </p:nvSpPr>
        <p:spPr>
          <a:xfrm>
            <a:off x="10515600" y="5303520"/>
            <a:ext cx="1097280" cy="320040"/>
          </a:xfrm>
          <a:prstGeom prst="rect">
            <a:avLst/>
          </a:prstGeom>
          <a:noFill/>
        </p:spPr>
        <p:txBody>
          <a:bodyPr wrap="square">
            <a:spAutoFit/>
          </a:bodyPr>
          <a:lstStyle/>
          <a:p>
            <a:pPr algn="ctr"/>
            <a:r>
              <a:rPr sz="1000" b="1" i="0">
                <a:solidFill>
                  <a:srgbClr val="0D1B2A"/>
                </a:solidFill>
                <a:latin typeface="Calibri"/>
              </a:rPr>
              <a:t>Phase 3</a:t>
            </a:r>
          </a:p>
        </p:txBody>
      </p:sp>
      <p:sp>
        <p:nvSpPr>
          <p:cNvPr id="31" name="Rectangle 30"/>
          <p:cNvSpPr/>
          <p:nvPr/>
        </p:nvSpPr>
        <p:spPr>
          <a:xfrm>
            <a:off x="10332720" y="5285232"/>
            <a:ext cx="1371600" cy="34747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32720" y="5303520"/>
            <a:ext cx="1371600" cy="320040"/>
          </a:xfrm>
          <a:prstGeom prst="rect">
            <a:avLst/>
          </a:prstGeom>
          <a:noFill/>
        </p:spPr>
        <p:txBody>
          <a:bodyPr wrap="square">
            <a:spAutoFit/>
          </a:bodyPr>
          <a:lstStyle/>
          <a:p>
            <a:pPr algn="ctr"/>
            <a:r>
              <a:rPr sz="900" b="1" i="0">
                <a:solidFill>
                  <a:srgbClr val="0D1B2A"/>
                </a:solidFill>
                <a:latin typeface="Calibri"/>
              </a:rPr>
              <a:t>Phase 3</a:t>
            </a:r>
          </a:p>
        </p:txBody>
      </p:sp>
      <p:sp>
        <p:nvSpPr>
          <p:cNvPr id="33" name="TextBox 32"/>
          <p:cNvSpPr txBox="1"/>
          <p:nvPr/>
        </p:nvSpPr>
        <p:spPr>
          <a:xfrm>
            <a:off x="594360" y="5715000"/>
            <a:ext cx="9509760" cy="502920"/>
          </a:xfrm>
          <a:prstGeom prst="rect">
            <a:avLst/>
          </a:prstGeom>
          <a:noFill/>
        </p:spPr>
        <p:txBody>
          <a:bodyPr wrap="square">
            <a:spAutoFit/>
          </a:bodyPr>
          <a:lstStyle/>
          <a:p>
            <a:pPr algn="l"/>
            <a:r>
              <a:rPr sz="1200" b="0" i="0">
                <a:solidFill>
                  <a:srgbClr val="C8D6E5"/>
                </a:solidFill>
                <a:latin typeface="Calibri"/>
              </a:rPr>
              <a:t>Parameterize the KB structure to support multiple brands/clients. Turn FitByte into a white-label content platform.</a:t>
            </a:r>
          </a:p>
        </p:txBody>
      </p:sp>
      <p:sp>
        <p:nvSpPr>
          <p:cNvPr id="34" name="TextBox 33"/>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3200400"/>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097280"/>
            <a:ext cx="10058400" cy="1371600"/>
          </a:xfrm>
          <a:prstGeom prst="rect">
            <a:avLst/>
          </a:prstGeom>
          <a:noFill/>
        </p:spPr>
        <p:txBody>
          <a:bodyPr wrap="square">
            <a:spAutoFit/>
          </a:bodyPr>
          <a:lstStyle/>
          <a:p>
            <a:pPr algn="ctr"/>
            <a:r>
              <a:rPr sz="6400" b="1" i="0">
                <a:solidFill>
                  <a:srgbClr val="FFFFFF"/>
                </a:solidFill>
                <a:latin typeface="Calibri"/>
              </a:rPr>
              <a:t>Thank You</a:t>
            </a:r>
          </a:p>
        </p:txBody>
      </p:sp>
      <p:sp>
        <p:nvSpPr>
          <p:cNvPr id="6" name="TextBox 5"/>
          <p:cNvSpPr txBox="1"/>
          <p:nvPr/>
        </p:nvSpPr>
        <p:spPr>
          <a:xfrm>
            <a:off x="914400" y="2468880"/>
            <a:ext cx="10058400" cy="731520"/>
          </a:xfrm>
          <a:prstGeom prst="rect">
            <a:avLst/>
          </a:prstGeom>
          <a:noFill/>
        </p:spPr>
        <p:txBody>
          <a:bodyPr wrap="square">
            <a:spAutoFit/>
          </a:bodyPr>
          <a:lstStyle/>
          <a:p>
            <a:pPr algn="ctr"/>
            <a:r>
              <a:rPr sz="3600" b="0" i="0">
                <a:solidFill>
                  <a:srgbClr val="00C8FF"/>
                </a:solidFill>
                <a:latin typeface="Calibri"/>
              </a:rPr>
              <a:t>Questions?</a:t>
            </a:r>
          </a:p>
        </p:txBody>
      </p:sp>
      <p:sp>
        <p:nvSpPr>
          <p:cNvPr id="7" name="Rectangle 6"/>
          <p:cNvSpPr/>
          <p:nvPr/>
        </p:nvSpPr>
        <p:spPr>
          <a:xfrm>
            <a:off x="914400" y="365760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3749039"/>
            <a:ext cx="3017520" cy="594360"/>
          </a:xfrm>
          <a:prstGeom prst="rect">
            <a:avLst/>
          </a:prstGeom>
          <a:noFill/>
        </p:spPr>
        <p:txBody>
          <a:bodyPr wrap="square">
            <a:spAutoFit/>
          </a:bodyPr>
          <a:lstStyle/>
          <a:p>
            <a:pPr algn="l"/>
            <a:r>
              <a:rPr sz="1100" b="0" i="0">
                <a:solidFill>
                  <a:srgbClr val="C8D6E5"/>
                </a:solidFill>
                <a:latin typeface="Calibri"/>
              </a:rPr>
              <a:t>How did you ensure content uniqueness?</a:t>
            </a:r>
          </a:p>
        </p:txBody>
      </p:sp>
      <p:sp>
        <p:nvSpPr>
          <p:cNvPr id="9" name="Rectangle 8"/>
          <p:cNvSpPr/>
          <p:nvPr/>
        </p:nvSpPr>
        <p:spPr>
          <a:xfrm>
            <a:off x="4434840" y="365760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3749039"/>
            <a:ext cx="3017520" cy="594360"/>
          </a:xfrm>
          <a:prstGeom prst="rect">
            <a:avLst/>
          </a:prstGeom>
          <a:noFill/>
        </p:spPr>
        <p:txBody>
          <a:bodyPr wrap="square">
            <a:spAutoFit/>
          </a:bodyPr>
          <a:lstStyle/>
          <a:p>
            <a:pPr algn="l"/>
            <a:r>
              <a:rPr sz="1100" b="0" i="0">
                <a:solidFill>
                  <a:srgbClr val="C8D6E5"/>
                </a:solidFill>
                <a:latin typeface="Calibri"/>
              </a:rPr>
              <a:t>Knowledge base organization &amp; structure</a:t>
            </a:r>
          </a:p>
        </p:txBody>
      </p:sp>
      <p:sp>
        <p:nvSpPr>
          <p:cNvPr id="11" name="Rectangle 10"/>
          <p:cNvSpPr/>
          <p:nvPr/>
        </p:nvSpPr>
        <p:spPr>
          <a:xfrm>
            <a:off x="7955279" y="365760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92440" y="3749039"/>
            <a:ext cx="3017520" cy="594360"/>
          </a:xfrm>
          <a:prstGeom prst="rect">
            <a:avLst/>
          </a:prstGeom>
          <a:noFill/>
        </p:spPr>
        <p:txBody>
          <a:bodyPr wrap="square">
            <a:spAutoFit/>
          </a:bodyPr>
          <a:lstStyle/>
          <a:p>
            <a:pPr algn="l"/>
            <a:r>
              <a:rPr sz="1100" b="0" i="0">
                <a:solidFill>
                  <a:srgbClr val="C8D6E5"/>
                </a:solidFill>
                <a:latin typeface="Calibri"/>
              </a:rPr>
              <a:t>Prompt engineering techniques used</a:t>
            </a:r>
          </a:p>
        </p:txBody>
      </p:sp>
      <p:sp>
        <p:nvSpPr>
          <p:cNvPr id="13" name="Rectangle 12"/>
          <p:cNvSpPr/>
          <p:nvPr/>
        </p:nvSpPr>
        <p:spPr>
          <a:xfrm>
            <a:off x="914400" y="466344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754879"/>
            <a:ext cx="3017520" cy="594360"/>
          </a:xfrm>
          <a:prstGeom prst="rect">
            <a:avLst/>
          </a:prstGeom>
          <a:noFill/>
        </p:spPr>
        <p:txBody>
          <a:bodyPr wrap="square">
            <a:spAutoFit/>
          </a:bodyPr>
          <a:lstStyle/>
          <a:p>
            <a:pPr algn="l"/>
            <a:r>
              <a:rPr sz="1100" b="0" i="0">
                <a:solidFill>
                  <a:srgbClr val="C8D6E5"/>
                </a:solidFill>
                <a:latin typeface="Calibri"/>
              </a:rPr>
              <a:t>Why 5 pipeline stages vs 1 direct call?</a:t>
            </a:r>
          </a:p>
        </p:txBody>
      </p:sp>
      <p:sp>
        <p:nvSpPr>
          <p:cNvPr id="15" name="Rectangle 14"/>
          <p:cNvSpPr/>
          <p:nvPr/>
        </p:nvSpPr>
        <p:spPr>
          <a:xfrm>
            <a:off x="4434840" y="466344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4754879"/>
            <a:ext cx="3017520" cy="594360"/>
          </a:xfrm>
          <a:prstGeom prst="rect">
            <a:avLst/>
          </a:prstGeom>
          <a:noFill/>
        </p:spPr>
        <p:txBody>
          <a:bodyPr wrap="square">
            <a:spAutoFit/>
          </a:bodyPr>
          <a:lstStyle/>
          <a:p>
            <a:pPr algn="l"/>
            <a:r>
              <a:rPr sz="1100" b="0" i="0">
                <a:solidFill>
                  <a:srgbClr val="C8D6E5"/>
                </a:solidFill>
                <a:latin typeface="Calibri"/>
              </a:rPr>
              <a:t>Technical choices: OpenAI vs Anthropic</a:t>
            </a:r>
          </a:p>
        </p:txBody>
      </p:sp>
      <p:sp>
        <p:nvSpPr>
          <p:cNvPr id="17" name="Rectangle 16"/>
          <p:cNvSpPr/>
          <p:nvPr/>
        </p:nvSpPr>
        <p:spPr>
          <a:xfrm>
            <a:off x="7955279" y="4663440"/>
            <a:ext cx="3291840" cy="777240"/>
          </a:xfrm>
          <a:prstGeom prst="rect">
            <a:avLst/>
          </a:prstGeom>
          <a:solidFill>
            <a:srgbClr val="1E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92440" y="4754879"/>
            <a:ext cx="3017520" cy="594360"/>
          </a:xfrm>
          <a:prstGeom prst="rect">
            <a:avLst/>
          </a:prstGeom>
          <a:noFill/>
        </p:spPr>
        <p:txBody>
          <a:bodyPr wrap="square">
            <a:spAutoFit/>
          </a:bodyPr>
          <a:lstStyle/>
          <a:p>
            <a:pPr algn="l"/>
            <a:r>
              <a:rPr sz="1100" b="0" i="0">
                <a:solidFill>
                  <a:srgbClr val="C8D6E5"/>
                </a:solidFill>
                <a:latin typeface="Calibri"/>
              </a:rPr>
              <a:t>Kanban workflow &amp; WIP limits</a:t>
            </a:r>
          </a:p>
        </p:txBody>
      </p:sp>
      <p:sp>
        <p:nvSpPr>
          <p:cNvPr id="19" name="TextBox 18"/>
          <p:cNvSpPr txBox="1"/>
          <p:nvPr/>
        </p:nvSpPr>
        <p:spPr>
          <a:xfrm>
            <a:off x="365760" y="6492240"/>
            <a:ext cx="11430000" cy="320040"/>
          </a:xfrm>
          <a:prstGeom prst="rect">
            <a:avLst/>
          </a:prstGeom>
          <a:noFill/>
        </p:spPr>
        <p:txBody>
          <a:bodyPr wrap="square">
            <a:spAutoFit/>
          </a:bodyPr>
          <a:lstStyle/>
          <a:p>
            <a:pPr algn="ctr"/>
            <a:r>
              <a:rPr sz="1100" b="0" i="0">
                <a:solidFill>
                  <a:srgbClr val="C8D6E5"/>
                </a:solidFill>
                <a:latin typeface="Calibri"/>
              </a:rPr>
              <a:t>Built for Ironhack Data Analytics Bootcamp  —  Module 2 Project  —  May 2026</a:t>
            </a:r>
          </a:p>
        </p:txBody>
      </p:sp>
      <p:sp>
        <p:nvSpPr>
          <p:cNvPr id="20" name="TextBox 19"/>
          <p:cNvSpPr txBox="1"/>
          <p:nvPr/>
        </p:nvSpPr>
        <p:spPr>
          <a:xfrm>
            <a:off x="11612880" y="6492240"/>
            <a:ext cx="457200" cy="274320"/>
          </a:xfrm>
          <a:prstGeom prst="rect">
            <a:avLst/>
          </a:prstGeom>
          <a:noFill/>
        </p:spPr>
        <p:txBody>
          <a:bodyPr wrap="square">
            <a:spAutoFit/>
          </a:bodyPr>
          <a:lstStyle/>
          <a:p>
            <a:pPr algn="r"/>
            <a:r>
              <a:rPr sz="1000" b="0" i="0">
                <a:solidFill>
                  <a:srgbClr val="C8D6E5"/>
                </a:solidFill>
                <a:latin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1517</Words>
  <Application>Microsoft Office PowerPoint</Application>
  <PresentationFormat>Benutzerdefiniert</PresentationFormat>
  <Paragraphs>245</Paragraphs>
  <Slides>12</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12</vt:i4>
      </vt:variant>
    </vt:vector>
  </HeadingPairs>
  <TitlesOfParts>
    <vt:vector size="15"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Kleber, Gunter</cp:lastModifiedBy>
  <cp:revision>2</cp:revision>
  <dcterms:created xsi:type="dcterms:W3CDTF">2013-01-27T09:14:16Z</dcterms:created>
  <dcterms:modified xsi:type="dcterms:W3CDTF">2026-05-05T16:00:04Z</dcterms:modified>
  <cp:category/>
</cp:coreProperties>
</file>